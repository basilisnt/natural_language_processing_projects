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7" r:id="rId2"/>
    <p:sldId id="258" r:id="rId3"/>
    <p:sldId id="256" r:id="rId4"/>
    <p:sldId id="257" r:id="rId5"/>
    <p:sldId id="259" r:id="rId6"/>
    <p:sldId id="260" r:id="rId7"/>
    <p:sldId id="265" r:id="rId8"/>
    <p:sldId id="261" r:id="rId9"/>
    <p:sldId id="262" r:id="rId10"/>
    <p:sldId id="263" r:id="rId11"/>
    <p:sldId id="264"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282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l-GR"/>
          </a:p>
        </p:txBody>
      </p:sp>
    </p:spTree>
    <p:extLst>
      <p:ext uri="{BB962C8B-B14F-4D97-AF65-F5344CB8AC3E}">
        <p14:creationId xmlns:p14="http://schemas.microsoft.com/office/powerpoint/2010/main" val="91947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5333"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pic>
        <p:nvPicPr>
          <p:cNvPr id="13" name="Picture 12">
            <a:extLst>
              <a:ext uri="{FF2B5EF4-FFF2-40B4-BE49-F238E27FC236}">
                <a16:creationId xmlns:a16="http://schemas.microsoft.com/office/drawing/2014/main" id="{0ECDC01B-579B-41EE-AF5A-28D45B85A8E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258" b="23075"/>
          <a:stretch/>
        </p:blipFill>
        <p:spPr>
          <a:xfrm>
            <a:off x="-21680" y="1"/>
            <a:ext cx="12213680" cy="3765223"/>
          </a:xfrm>
          <a:prstGeom prst="rect">
            <a:avLst/>
          </a:prstGeom>
        </p:spPr>
      </p:pic>
      <p:sp>
        <p:nvSpPr>
          <p:cNvPr id="12" name="Title 1">
            <a:extLst>
              <a:ext uri="{FF2B5EF4-FFF2-40B4-BE49-F238E27FC236}">
                <a16:creationId xmlns:a16="http://schemas.microsoft.com/office/drawing/2014/main" id="{764AF539-FDE4-464D-9B9A-32BFD1033024}"/>
              </a:ext>
            </a:extLst>
          </p:cNvPr>
          <p:cNvSpPr txBox="1">
            <a:spLocks/>
          </p:cNvSpPr>
          <p:nvPr userDrawn="1"/>
        </p:nvSpPr>
        <p:spPr>
          <a:xfrm>
            <a:off x="2023867" y="6557431"/>
            <a:ext cx="7315200" cy="365659"/>
          </a:xfrm>
          <a:prstGeom prst="rect">
            <a:avLst/>
          </a:prstGeom>
        </p:spPr>
        <p:txBody>
          <a:bodyPr anchor="b"/>
          <a:lstStyle>
            <a:lvl1pPr algn="l" defTabSz="914400" rtl="0" eaLnBrk="1" latinLnBrk="0" hangingPunct="1">
              <a:spcBef>
                <a:spcPct val="0"/>
              </a:spcBef>
              <a:buNone/>
              <a:defRPr sz="2000" b="1" kern="1200">
                <a:solidFill>
                  <a:schemeClr val="tx1"/>
                </a:solidFill>
                <a:latin typeface="+mj-lt"/>
                <a:ea typeface="+mj-ea"/>
                <a:cs typeface="+mj-cs"/>
              </a:defRPr>
            </a:lvl1pPr>
          </a:lstStyle>
          <a:p>
            <a:pPr algn="ctr"/>
            <a:r>
              <a:rPr lang="en-US" sz="1867" dirty="0"/>
              <a:t>MSC </a:t>
            </a:r>
            <a:r>
              <a:rPr lang="en-US" sz="1867" dirty="0">
                <a:solidFill>
                  <a:srgbClr val="FF0000"/>
                </a:solidFill>
              </a:rPr>
              <a:t>Artificial Intelligence</a:t>
            </a:r>
            <a:r>
              <a:rPr lang="en-US" sz="1867" dirty="0"/>
              <a:t> and </a:t>
            </a:r>
            <a:r>
              <a:rPr lang="en-US" sz="1867" dirty="0">
                <a:solidFill>
                  <a:schemeClr val="tx2">
                    <a:lumMod val="60000"/>
                    <a:lumOff val="40000"/>
                  </a:schemeClr>
                </a:solidFill>
              </a:rPr>
              <a:t>Deep Learning</a:t>
            </a:r>
          </a:p>
        </p:txBody>
      </p:sp>
      <p:sp>
        <p:nvSpPr>
          <p:cNvPr id="4" name="Rectangle: Rounded Corners 3">
            <a:extLst>
              <a:ext uri="{FF2B5EF4-FFF2-40B4-BE49-F238E27FC236}">
                <a16:creationId xmlns:a16="http://schemas.microsoft.com/office/drawing/2014/main" id="{498EB333-0731-DBEA-0840-43FA606A8E49}"/>
              </a:ext>
            </a:extLst>
          </p:cNvPr>
          <p:cNvSpPr/>
          <p:nvPr userDrawn="1"/>
        </p:nvSpPr>
        <p:spPr>
          <a:xfrm>
            <a:off x="11408054" y="5942180"/>
            <a:ext cx="708767" cy="86949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sz="2400"/>
          </a:p>
        </p:txBody>
      </p:sp>
      <p:pic>
        <p:nvPicPr>
          <p:cNvPr id="5" name="Content Placeholder 6">
            <a:extLst>
              <a:ext uri="{FF2B5EF4-FFF2-40B4-BE49-F238E27FC236}">
                <a16:creationId xmlns:a16="http://schemas.microsoft.com/office/drawing/2014/main" id="{B2869D27-55ED-48F0-4EEF-D21A858997B6}"/>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22645" t="14646" r="20888" b="3989"/>
          <a:stretch/>
        </p:blipFill>
        <p:spPr>
          <a:xfrm>
            <a:off x="11491360" y="5982820"/>
            <a:ext cx="575224" cy="828853"/>
          </a:xfrm>
          <a:prstGeom prst="rect">
            <a:avLst/>
          </a:prstGeom>
        </p:spPr>
      </p:pic>
    </p:spTree>
    <p:extLst>
      <p:ext uri="{BB962C8B-B14F-4D97-AF65-F5344CB8AC3E}">
        <p14:creationId xmlns:p14="http://schemas.microsoft.com/office/powerpoint/2010/main" val="3181477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picTx">
  <p:cSld name="Picture with Capti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27687" y="4800600"/>
            <a:ext cx="7315200" cy="566739"/>
          </a:xfrm>
          <a:prstGeom prst="rect">
            <a:avLst/>
          </a:prstGeom>
        </p:spPr>
        <p:txBody>
          <a:bodyPr anchor="b"/>
          <a:lstStyle>
            <a:lvl1pPr algn="l">
              <a:defRPr sz="2667" b="1"/>
            </a:lvl1pPr>
          </a:lstStyle>
          <a:p>
            <a:r>
              <a:rPr lang="en-US" dirty="0"/>
              <a:t>Click to edit Master title style</a:t>
            </a:r>
          </a:p>
        </p:txBody>
      </p:sp>
      <p:sp>
        <p:nvSpPr>
          <p:cNvPr id="3" name="Picture Placeholder 2"/>
          <p:cNvSpPr>
            <a:spLocks noGrp="1"/>
          </p:cNvSpPr>
          <p:nvPr>
            <p:ph type="pic" idx="1"/>
          </p:nvPr>
        </p:nvSpPr>
        <p:spPr>
          <a:xfrm>
            <a:off x="142768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lang="en-US"/>
          </a:p>
        </p:txBody>
      </p:sp>
      <p:sp>
        <p:nvSpPr>
          <p:cNvPr id="4" name="Text Placeholder 3"/>
          <p:cNvSpPr>
            <a:spLocks noGrp="1"/>
          </p:cNvSpPr>
          <p:nvPr>
            <p:ph type="body" sz="half" idx="2"/>
          </p:nvPr>
        </p:nvSpPr>
        <p:spPr>
          <a:xfrm>
            <a:off x="142768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pic>
        <p:nvPicPr>
          <p:cNvPr id="10" name="Picture 9">
            <a:extLst>
              <a:ext uri="{FF2B5EF4-FFF2-40B4-BE49-F238E27FC236}">
                <a16:creationId xmlns:a16="http://schemas.microsoft.com/office/drawing/2014/main" id="{D833B7A8-4356-4412-9D04-D19BE18F2F8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40000"/>
                    </a14:imgEffect>
                  </a14:imgLayer>
                </a14:imgProps>
              </a:ext>
            </a:extLst>
          </a:blip>
          <a:stretch>
            <a:fillRect/>
          </a:stretch>
        </p:blipFill>
        <p:spPr>
          <a:xfrm>
            <a:off x="10306864" y="0"/>
            <a:ext cx="1885137" cy="6858000"/>
          </a:xfrm>
          <a:prstGeom prst="rect">
            <a:avLst/>
          </a:prstGeom>
        </p:spPr>
      </p:pic>
      <p:sp>
        <p:nvSpPr>
          <p:cNvPr id="15" name="Title 1">
            <a:extLst>
              <a:ext uri="{FF2B5EF4-FFF2-40B4-BE49-F238E27FC236}">
                <a16:creationId xmlns:a16="http://schemas.microsoft.com/office/drawing/2014/main" id="{EC5977EB-469E-41A3-B28C-F200DF6CFE16}"/>
              </a:ext>
            </a:extLst>
          </p:cNvPr>
          <p:cNvSpPr txBox="1">
            <a:spLocks/>
          </p:cNvSpPr>
          <p:nvPr userDrawn="1"/>
        </p:nvSpPr>
        <p:spPr>
          <a:xfrm>
            <a:off x="2023867" y="6557431"/>
            <a:ext cx="7315200" cy="365659"/>
          </a:xfrm>
          <a:prstGeom prst="rect">
            <a:avLst/>
          </a:prstGeom>
        </p:spPr>
        <p:txBody>
          <a:bodyPr anchor="b"/>
          <a:lstStyle>
            <a:lvl1pPr algn="l" defTabSz="914400" rtl="0" eaLnBrk="1" latinLnBrk="0" hangingPunct="1">
              <a:spcBef>
                <a:spcPct val="0"/>
              </a:spcBef>
              <a:buNone/>
              <a:defRPr sz="2000" b="1" kern="1200">
                <a:solidFill>
                  <a:schemeClr val="tx1"/>
                </a:solidFill>
                <a:latin typeface="+mj-lt"/>
                <a:ea typeface="+mj-ea"/>
                <a:cs typeface="+mj-cs"/>
              </a:defRPr>
            </a:lvl1pPr>
          </a:lstStyle>
          <a:p>
            <a:pPr algn="ctr"/>
            <a:r>
              <a:rPr lang="en-US" sz="1867" dirty="0"/>
              <a:t>MSC </a:t>
            </a:r>
            <a:r>
              <a:rPr lang="en-US" sz="1867" dirty="0">
                <a:solidFill>
                  <a:srgbClr val="FF0000"/>
                </a:solidFill>
              </a:rPr>
              <a:t>Artificial Intelligence</a:t>
            </a:r>
            <a:r>
              <a:rPr lang="en-US" sz="1867" dirty="0"/>
              <a:t> and </a:t>
            </a:r>
            <a:r>
              <a:rPr lang="en-US" sz="1867" dirty="0">
                <a:solidFill>
                  <a:schemeClr val="tx2">
                    <a:lumMod val="60000"/>
                    <a:lumOff val="40000"/>
                  </a:schemeClr>
                </a:solidFill>
              </a:rPr>
              <a:t>Deep Learning</a:t>
            </a:r>
          </a:p>
        </p:txBody>
      </p:sp>
      <p:sp>
        <p:nvSpPr>
          <p:cNvPr id="5" name="Rectangle: Rounded Corners 4">
            <a:extLst>
              <a:ext uri="{FF2B5EF4-FFF2-40B4-BE49-F238E27FC236}">
                <a16:creationId xmlns:a16="http://schemas.microsoft.com/office/drawing/2014/main" id="{40EBB131-17C5-F672-CE29-935C84DEAC46}"/>
              </a:ext>
            </a:extLst>
          </p:cNvPr>
          <p:cNvSpPr/>
          <p:nvPr userDrawn="1"/>
        </p:nvSpPr>
        <p:spPr>
          <a:xfrm>
            <a:off x="59334" y="5942180"/>
            <a:ext cx="708767" cy="869493"/>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GB" sz="2400"/>
          </a:p>
        </p:txBody>
      </p:sp>
      <p:pic>
        <p:nvPicPr>
          <p:cNvPr id="6" name="Content Placeholder 6">
            <a:extLst>
              <a:ext uri="{FF2B5EF4-FFF2-40B4-BE49-F238E27FC236}">
                <a16:creationId xmlns:a16="http://schemas.microsoft.com/office/drawing/2014/main" id="{A71028C9-BD2A-1106-6BBC-040419428E1D}"/>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l="22645" t="14646" r="20888" b="3989"/>
          <a:stretch/>
        </p:blipFill>
        <p:spPr>
          <a:xfrm>
            <a:off x="142640" y="5982820"/>
            <a:ext cx="575224" cy="828853"/>
          </a:xfrm>
          <a:prstGeom prst="rect">
            <a:avLst/>
          </a:prstGeom>
        </p:spPr>
      </p:pic>
    </p:spTree>
    <p:extLst>
      <p:ext uri="{BB962C8B-B14F-4D97-AF65-F5344CB8AC3E}">
        <p14:creationId xmlns:p14="http://schemas.microsoft.com/office/powerpoint/2010/main" val="1888727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2E342-6995-412B-90B2-04676BBDA942}"/>
              </a:ext>
            </a:extLst>
          </p:cNvPr>
          <p:cNvSpPr>
            <a:spLocks noGrp="1"/>
          </p:cNvSpPr>
          <p:nvPr>
            <p:ph type="title"/>
          </p:nvPr>
        </p:nvSpPr>
        <p:spPr>
          <a:xfrm>
            <a:off x="914400" y="3997827"/>
            <a:ext cx="11277600" cy="1308099"/>
          </a:xfrm>
        </p:spPr>
        <p:txBody>
          <a:bodyPr/>
          <a:lstStyle/>
          <a:p>
            <a:pPr algn="ctr"/>
            <a:r>
              <a:rPr lang="en-US" sz="3600" dirty="0">
                <a:solidFill>
                  <a:schemeClr val="accent4">
                    <a:lumMod val="50000"/>
                  </a:schemeClr>
                </a:solidFill>
                <a:latin typeface="MS Reference Sans Serif" panose="020B0604030504040204" pitchFamily="34" charset="0"/>
              </a:rPr>
              <a:t>Natural Language Processing with Deep Learning project</a:t>
            </a:r>
            <a:endParaRPr lang="en-GB" sz="3600" dirty="0">
              <a:solidFill>
                <a:schemeClr val="accent4">
                  <a:lumMod val="50000"/>
                </a:schemeClr>
              </a:solidFill>
              <a:latin typeface="MS Reference Sans Serif" panose="020B0604030504040204" pitchFamily="34" charset="0"/>
            </a:endParaRPr>
          </a:p>
        </p:txBody>
      </p:sp>
      <p:sp>
        <p:nvSpPr>
          <p:cNvPr id="3" name="Text Placeholder 2">
            <a:extLst>
              <a:ext uri="{FF2B5EF4-FFF2-40B4-BE49-F238E27FC236}">
                <a16:creationId xmlns:a16="http://schemas.microsoft.com/office/drawing/2014/main" id="{FD9AB16E-02C4-49E4-B106-24E5A0E80C23}"/>
              </a:ext>
            </a:extLst>
          </p:cNvPr>
          <p:cNvSpPr>
            <a:spLocks noGrp="1"/>
          </p:cNvSpPr>
          <p:nvPr>
            <p:ph type="body" idx="1"/>
          </p:nvPr>
        </p:nvSpPr>
        <p:spPr>
          <a:xfrm>
            <a:off x="277283" y="5392551"/>
            <a:ext cx="10363200" cy="961586"/>
          </a:xfrm>
        </p:spPr>
        <p:txBody>
          <a:bodyPr/>
          <a:lstStyle/>
          <a:p>
            <a:r>
              <a:rPr lang="en-US" sz="1800" dirty="0">
                <a:solidFill>
                  <a:schemeClr val="tx1"/>
                </a:solidFill>
                <a:latin typeface="Arial" panose="020B0604020202020204" pitchFamily="34" charset="0"/>
                <a:cs typeface="Arial" panose="020B0604020202020204" pitchFamily="34" charset="0"/>
              </a:rPr>
              <a:t>Presenter: Vasileios Ntelopoulos, mscaidl-0112 </a:t>
            </a:r>
          </a:p>
          <a:p>
            <a:r>
              <a:rPr lang="en-US" sz="1800" dirty="0">
                <a:solidFill>
                  <a:schemeClr val="tx1"/>
                </a:solidFill>
                <a:latin typeface="Arial" panose="020B0604020202020204" pitchFamily="34" charset="0"/>
                <a:cs typeface="Arial" panose="020B0604020202020204" pitchFamily="34" charset="0"/>
              </a:rPr>
              <a:t>Instructor: Prof. Panagiotis </a:t>
            </a:r>
            <a:r>
              <a:rPr lang="en-US" sz="1800" dirty="0" err="1">
                <a:solidFill>
                  <a:schemeClr val="tx1"/>
                </a:solidFill>
                <a:latin typeface="Arial" panose="020B0604020202020204" pitchFamily="34" charset="0"/>
                <a:cs typeface="Arial" panose="020B0604020202020204" pitchFamily="34" charset="0"/>
              </a:rPr>
              <a:t>Kasnesis</a:t>
            </a:r>
            <a:endParaRPr lang="en-GB" sz="1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513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8010441-144F-2A45-7B9E-CC9AE9054BDC}"/>
              </a:ext>
            </a:extLst>
          </p:cNvPr>
          <p:cNvSpPr/>
          <p:nvPr/>
        </p:nvSpPr>
        <p:spPr>
          <a:xfrm>
            <a:off x="548640" y="274320"/>
            <a:ext cx="11064240" cy="54864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1. Toxicity dataset - Preprocess</a:t>
            </a:r>
            <a:endParaRPr lang="en-US" sz="3400" dirty="0"/>
          </a:p>
        </p:txBody>
      </p:sp>
      <p:sp>
        <p:nvSpPr>
          <p:cNvPr id="3" name="Text 2">
            <a:extLst>
              <a:ext uri="{FF2B5EF4-FFF2-40B4-BE49-F238E27FC236}">
                <a16:creationId xmlns:a16="http://schemas.microsoft.com/office/drawing/2014/main" id="{397E55F3-7A64-1C87-44EE-7188B0FBD4F4}"/>
              </a:ext>
            </a:extLst>
          </p:cNvPr>
          <p:cNvSpPr/>
          <p:nvPr/>
        </p:nvSpPr>
        <p:spPr>
          <a:xfrm>
            <a:off x="405556" y="3719444"/>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Preprocessing of </a:t>
            </a:r>
            <a:r>
              <a:rPr lang="en-US" sz="1600" b="1" dirty="0" err="1">
                <a:solidFill>
                  <a:srgbClr val="000000"/>
                </a:solidFill>
                <a:latin typeface="Calibri" pitchFamily="34" charset="0"/>
                <a:ea typeface="Calibri" pitchFamily="34" charset="-122"/>
                <a:cs typeface="Calibri" pitchFamily="34" charset="-120"/>
              </a:rPr>
              <a:t>GloVe</a:t>
            </a:r>
            <a:r>
              <a:rPr lang="en-US" sz="1600" b="1" dirty="0">
                <a:solidFill>
                  <a:srgbClr val="000000"/>
                </a:solidFill>
                <a:latin typeface="Calibri" pitchFamily="34" charset="0"/>
                <a:ea typeface="Calibri" pitchFamily="34" charset="-122"/>
                <a:cs typeface="Calibri" pitchFamily="34" charset="-120"/>
              </a:rPr>
              <a:t> Model</a:t>
            </a:r>
            <a:endParaRPr lang="en-US" sz="1600" dirty="0"/>
          </a:p>
        </p:txBody>
      </p:sp>
      <p:sp>
        <p:nvSpPr>
          <p:cNvPr id="4" name="Shape 3">
            <a:extLst>
              <a:ext uri="{FF2B5EF4-FFF2-40B4-BE49-F238E27FC236}">
                <a16:creationId xmlns:a16="http://schemas.microsoft.com/office/drawing/2014/main" id="{4397998B-08A3-1E96-08CD-E71ECEA66DC5}"/>
              </a:ext>
            </a:extLst>
          </p:cNvPr>
          <p:cNvSpPr/>
          <p:nvPr/>
        </p:nvSpPr>
        <p:spPr>
          <a:xfrm>
            <a:off x="405556" y="4030340"/>
            <a:ext cx="5577840" cy="0"/>
          </a:xfrm>
          <a:prstGeom prst="line">
            <a:avLst/>
          </a:prstGeom>
          <a:noFill/>
          <a:ln w="12700">
            <a:solidFill>
              <a:srgbClr val="CFCFCF"/>
            </a:solidFill>
            <a:prstDash val="solid"/>
          </a:ln>
        </p:spPr>
      </p:sp>
      <p:sp>
        <p:nvSpPr>
          <p:cNvPr id="5" name="Text 4">
            <a:extLst>
              <a:ext uri="{FF2B5EF4-FFF2-40B4-BE49-F238E27FC236}">
                <a16:creationId xmlns:a16="http://schemas.microsoft.com/office/drawing/2014/main" id="{05A23655-B0A0-0748-4A53-67CDD847456C}"/>
              </a:ext>
            </a:extLst>
          </p:cNvPr>
          <p:cNvSpPr/>
          <p:nvPr/>
        </p:nvSpPr>
        <p:spPr>
          <a:xfrm>
            <a:off x="405556" y="4130924"/>
            <a:ext cx="5577840" cy="2182768"/>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latin typeface="Calibri" pitchFamily="34" charset="0"/>
                <a:ea typeface="Calibri" pitchFamily="34" charset="-122"/>
                <a:cs typeface="Calibri" pitchFamily="34" charset="-120"/>
              </a:rPr>
              <a:t>Reuse </a:t>
            </a:r>
            <a:r>
              <a:rPr lang="en-US" sz="1400" dirty="0" err="1">
                <a:solidFill>
                  <a:srgbClr val="222222"/>
                </a:solidFill>
                <a:latin typeface="Calibri" pitchFamily="34" charset="0"/>
                <a:ea typeface="Calibri" pitchFamily="34" charset="-122"/>
                <a:cs typeface="Calibri" pitchFamily="34" charset="-120"/>
              </a:rPr>
              <a:t>tokenizer.word_index</a:t>
            </a:r>
            <a:r>
              <a:rPr lang="en-US" sz="1400" dirty="0">
                <a:solidFill>
                  <a:srgbClr val="222222"/>
                </a:solidFill>
                <a:latin typeface="Calibri" pitchFamily="34" charset="0"/>
                <a:ea typeface="Calibri" pitchFamily="34" charset="-122"/>
                <a:cs typeface="Calibri" pitchFamily="34" charset="-120"/>
              </a:rPr>
              <a:t> and the same </a:t>
            </a:r>
            <a:r>
              <a:rPr lang="en-US" sz="1400" dirty="0" err="1">
                <a:solidFill>
                  <a:srgbClr val="222222"/>
                </a:solidFill>
                <a:latin typeface="Calibri" pitchFamily="34" charset="0"/>
                <a:ea typeface="Calibri" pitchFamily="34" charset="-122"/>
                <a:cs typeface="Calibri" pitchFamily="34" charset="-120"/>
              </a:rPr>
              <a:t>vocab_size</a:t>
            </a:r>
            <a:r>
              <a:rPr lang="en-US" sz="1400" dirty="0">
                <a:solidFill>
                  <a:srgbClr val="222222"/>
                </a:solidFill>
                <a:latin typeface="Calibri" pitchFamily="34" charset="0"/>
                <a:ea typeface="Calibri" pitchFamily="34" charset="-122"/>
                <a:cs typeface="Calibri" pitchFamily="34" charset="-120"/>
              </a:rPr>
              <a:t> so the </a:t>
            </a:r>
            <a:r>
              <a:rPr lang="en-US" sz="1400" dirty="0" err="1">
                <a:solidFill>
                  <a:srgbClr val="222222"/>
                </a:solidFill>
                <a:latin typeface="Calibri" pitchFamily="34" charset="0"/>
                <a:ea typeface="Calibri" pitchFamily="34" charset="-122"/>
                <a:cs typeface="Calibri" pitchFamily="34" charset="-120"/>
              </a:rPr>
              <a:t>GloVe</a:t>
            </a:r>
            <a:r>
              <a:rPr lang="en-US" sz="1400" dirty="0">
                <a:solidFill>
                  <a:srgbClr val="222222"/>
                </a:solidFill>
                <a:latin typeface="Calibri" pitchFamily="34" charset="0"/>
                <a:ea typeface="Calibri" pitchFamily="34" charset="-122"/>
                <a:cs typeface="Calibri" pitchFamily="34" charset="-120"/>
              </a:rPr>
              <a:t> model uses identical token IDs as the custom-embedding model.</a:t>
            </a:r>
          </a:p>
          <a:p>
            <a:pPr marL="285750" indent="-285750">
              <a:buSzPct val="100000"/>
              <a:buFont typeface="Arial" panose="020B0604020202020204" pitchFamily="34" charset="0"/>
              <a:buChar char="•"/>
            </a:pPr>
            <a:r>
              <a:rPr lang="en-US" sz="1400" dirty="0">
                <a:solidFill>
                  <a:srgbClr val="222222"/>
                </a:solidFill>
                <a:latin typeface="Calibri" pitchFamily="34" charset="0"/>
                <a:ea typeface="Calibri" pitchFamily="34" charset="-122"/>
                <a:cs typeface="Calibri" pitchFamily="34" charset="-120"/>
              </a:rPr>
              <a:t>Words not found in </a:t>
            </a:r>
            <a:r>
              <a:rPr lang="en-US" sz="1400" dirty="0" err="1">
                <a:solidFill>
                  <a:srgbClr val="222222"/>
                </a:solidFill>
                <a:latin typeface="Calibri" pitchFamily="34" charset="0"/>
                <a:ea typeface="Calibri" pitchFamily="34" charset="-122"/>
                <a:cs typeface="Calibri" pitchFamily="34" charset="-120"/>
              </a:rPr>
              <a:t>GloVe</a:t>
            </a:r>
            <a:r>
              <a:rPr lang="en-US" sz="1400" dirty="0">
                <a:solidFill>
                  <a:srgbClr val="222222"/>
                </a:solidFill>
                <a:latin typeface="Calibri" pitchFamily="34" charset="0"/>
                <a:ea typeface="Calibri" pitchFamily="34" charset="-122"/>
                <a:cs typeface="Calibri" pitchFamily="34" charset="-120"/>
              </a:rPr>
              <a:t> keep the all-zeros row, meaning they start with “no information” unless you later make the embedding layer trainable (then those rows can be learned during training).</a:t>
            </a:r>
          </a:p>
          <a:p>
            <a:pPr marL="285750" indent="-285750">
              <a:buSzPct val="100000"/>
              <a:buFont typeface="Arial" panose="020B0604020202020204" pitchFamily="34" charset="0"/>
              <a:buChar char="•"/>
            </a:pPr>
            <a:r>
              <a:rPr lang="en-US" sz="1400" dirty="0">
                <a:solidFill>
                  <a:srgbClr val="222222"/>
                </a:solidFill>
                <a:latin typeface="Calibri" pitchFamily="34" charset="0"/>
                <a:ea typeface="Calibri" pitchFamily="34" charset="-122"/>
                <a:cs typeface="Calibri" pitchFamily="34" charset="-120"/>
              </a:rPr>
              <a:t>Load and fine-tune embeddings: initialize a </a:t>
            </a:r>
            <a:r>
              <a:rPr lang="en-US" sz="1400" dirty="0" err="1">
                <a:solidFill>
                  <a:srgbClr val="222222"/>
                </a:solidFill>
                <a:latin typeface="Calibri" pitchFamily="34" charset="0"/>
                <a:ea typeface="Calibri" pitchFamily="34" charset="-122"/>
                <a:cs typeface="Calibri" pitchFamily="34" charset="-120"/>
              </a:rPr>
              <a:t>Keras</a:t>
            </a:r>
            <a:r>
              <a:rPr lang="en-US" sz="1400" dirty="0">
                <a:solidFill>
                  <a:srgbClr val="222222"/>
                </a:solidFill>
                <a:latin typeface="Calibri" pitchFamily="34" charset="0"/>
                <a:ea typeface="Calibri" pitchFamily="34" charset="-122"/>
                <a:cs typeface="Calibri" pitchFamily="34" charset="-120"/>
              </a:rPr>
              <a:t> Embedding layer with </a:t>
            </a:r>
            <a:r>
              <a:rPr lang="en-US" sz="1400" dirty="0" err="1">
                <a:solidFill>
                  <a:srgbClr val="222222"/>
                </a:solidFill>
                <a:latin typeface="Calibri" pitchFamily="34" charset="0"/>
                <a:ea typeface="Calibri" pitchFamily="34" charset="-122"/>
                <a:cs typeface="Calibri" pitchFamily="34" charset="-120"/>
              </a:rPr>
              <a:t>set_weights</a:t>
            </a:r>
            <a:r>
              <a:rPr lang="en-US" sz="1400" dirty="0">
                <a:solidFill>
                  <a:srgbClr val="222222"/>
                </a:solidFill>
                <a:latin typeface="Calibri" pitchFamily="34" charset="0"/>
                <a:ea typeface="Calibri" pitchFamily="34" charset="-122"/>
                <a:cs typeface="Calibri" pitchFamily="34" charset="-120"/>
              </a:rPr>
              <a:t>([</a:t>
            </a:r>
            <a:r>
              <a:rPr lang="en-US" sz="1400" dirty="0" err="1">
                <a:solidFill>
                  <a:srgbClr val="222222"/>
                </a:solidFill>
                <a:latin typeface="Calibri" pitchFamily="34" charset="0"/>
                <a:ea typeface="Calibri" pitchFamily="34" charset="-122"/>
                <a:cs typeface="Calibri" pitchFamily="34" charset="-120"/>
              </a:rPr>
              <a:t>embedding_matrix</a:t>
            </a:r>
            <a:r>
              <a:rPr lang="en-US" sz="1400" dirty="0">
                <a:solidFill>
                  <a:srgbClr val="222222"/>
                </a:solidFill>
                <a:latin typeface="Calibri" pitchFamily="34" charset="0"/>
                <a:ea typeface="Calibri" pitchFamily="34" charset="-122"/>
                <a:cs typeface="Calibri" pitchFamily="34" charset="-120"/>
              </a:rPr>
              <a:t>]) and set trainable=True so the vectors can adapt to the toxicity task.</a:t>
            </a:r>
          </a:p>
        </p:txBody>
      </p:sp>
      <p:sp>
        <p:nvSpPr>
          <p:cNvPr id="6" name="Shape 8">
            <a:extLst>
              <a:ext uri="{FF2B5EF4-FFF2-40B4-BE49-F238E27FC236}">
                <a16:creationId xmlns:a16="http://schemas.microsoft.com/office/drawing/2014/main" id="{83180A31-43DF-D934-BB0C-1D71C6CD1970}"/>
              </a:ext>
            </a:extLst>
          </p:cNvPr>
          <p:cNvSpPr/>
          <p:nvPr/>
        </p:nvSpPr>
        <p:spPr>
          <a:xfrm>
            <a:off x="6196614" y="637675"/>
            <a:ext cx="5690586" cy="6142117"/>
          </a:xfrm>
          <a:prstGeom prst="roundRect">
            <a:avLst/>
          </a:prstGeom>
          <a:solidFill>
            <a:srgbClr val="FFFFFF"/>
          </a:solidFill>
          <a:ln w="12700">
            <a:solidFill>
              <a:srgbClr val="D9D9D9"/>
            </a:solidFill>
            <a:prstDash val="solid"/>
          </a:ln>
        </p:spPr>
        <p:txBody>
          <a:bodyPr/>
          <a:lstStyle/>
          <a:p>
            <a:endParaRPr lang="el-GR" dirty="0"/>
          </a:p>
        </p:txBody>
      </p:sp>
      <p:sp>
        <p:nvSpPr>
          <p:cNvPr id="9" name="Text 5">
            <a:extLst>
              <a:ext uri="{FF2B5EF4-FFF2-40B4-BE49-F238E27FC236}">
                <a16:creationId xmlns:a16="http://schemas.microsoft.com/office/drawing/2014/main" id="{CA2C6458-FD8E-A68A-84A8-88B7BE4F21EC}"/>
              </a:ext>
            </a:extLst>
          </p:cNvPr>
          <p:cNvSpPr/>
          <p:nvPr/>
        </p:nvSpPr>
        <p:spPr>
          <a:xfrm>
            <a:off x="405556" y="1133856"/>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Preprocessing of Custom Model</a:t>
            </a:r>
            <a:endParaRPr lang="en-US" sz="1600" dirty="0"/>
          </a:p>
        </p:txBody>
      </p:sp>
      <p:sp>
        <p:nvSpPr>
          <p:cNvPr id="10" name="Shape 6">
            <a:extLst>
              <a:ext uri="{FF2B5EF4-FFF2-40B4-BE49-F238E27FC236}">
                <a16:creationId xmlns:a16="http://schemas.microsoft.com/office/drawing/2014/main" id="{ACC7C8E2-BFCF-FFA9-2E65-E9679F088496}"/>
              </a:ext>
            </a:extLst>
          </p:cNvPr>
          <p:cNvSpPr/>
          <p:nvPr/>
        </p:nvSpPr>
        <p:spPr>
          <a:xfrm>
            <a:off x="405556" y="1479644"/>
            <a:ext cx="5577840" cy="0"/>
          </a:xfrm>
          <a:prstGeom prst="line">
            <a:avLst/>
          </a:prstGeom>
          <a:noFill/>
          <a:ln w="12700">
            <a:solidFill>
              <a:srgbClr val="CFCFCF"/>
            </a:solidFill>
            <a:prstDash val="solid"/>
          </a:ln>
        </p:spPr>
      </p:sp>
      <p:sp>
        <p:nvSpPr>
          <p:cNvPr id="11" name="Text 7">
            <a:extLst>
              <a:ext uri="{FF2B5EF4-FFF2-40B4-BE49-F238E27FC236}">
                <a16:creationId xmlns:a16="http://schemas.microsoft.com/office/drawing/2014/main" id="{98809399-A4E8-1C95-27F8-9A8C16FCBE0B}"/>
              </a:ext>
            </a:extLst>
          </p:cNvPr>
          <p:cNvSpPr/>
          <p:nvPr/>
        </p:nvSpPr>
        <p:spPr>
          <a:xfrm>
            <a:off x="423844" y="1561699"/>
            <a:ext cx="5577840" cy="2066303"/>
          </a:xfrm>
          <a:prstGeom prst="rect">
            <a:avLst/>
          </a:prstGeom>
          <a:noFill/>
          <a:ln/>
        </p:spPr>
        <p:txBody>
          <a:bodyPr wrap="square" lIns="25400" tIns="25400" rIns="25400" bIns="25400" rtlCol="0" anchor="t"/>
          <a:lstStyle/>
          <a:p>
            <a:pPr marL="285750" indent="-285750">
              <a:buFont typeface="Arial" panose="020B0604020202020204" pitchFamily="34" charset="0"/>
              <a:buChar char="•"/>
            </a:pPr>
            <a:r>
              <a:rPr lang="en-US" sz="1400" dirty="0">
                <a:solidFill>
                  <a:srgbClr val="000000"/>
                </a:solidFill>
                <a:latin typeface="Calibri" pitchFamily="34" charset="0"/>
                <a:ea typeface="Calibri" pitchFamily="34" charset="-122"/>
                <a:cs typeface="Calibri" pitchFamily="34" charset="-120"/>
              </a:rPr>
              <a:t>Lowercase + strip whitespace: make the text consistent (e.g., “Hello” and “hello” become the same token) and remove extra spaces.</a:t>
            </a:r>
            <a:endParaRPr lang="el-GR" sz="1400" dirty="0">
              <a:solidFill>
                <a:srgbClr val="000000"/>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400" dirty="0">
                <a:solidFill>
                  <a:srgbClr val="000000"/>
                </a:solidFill>
                <a:latin typeface="Calibri" pitchFamily="34" charset="0"/>
                <a:ea typeface="Calibri" pitchFamily="34" charset="-122"/>
                <a:cs typeface="Calibri" pitchFamily="34" charset="-120"/>
              </a:rPr>
              <a:t>Remove non-letters (regex): drop punctuation/numbers/symbols so the vocabulary is cleaner and less sparse.</a:t>
            </a:r>
            <a:endParaRPr lang="el-GR" sz="1400" dirty="0">
              <a:solidFill>
                <a:srgbClr val="000000"/>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400" dirty="0">
                <a:solidFill>
                  <a:srgbClr val="000000"/>
                </a:solidFill>
                <a:latin typeface="Calibri" pitchFamily="34" charset="0"/>
                <a:ea typeface="Calibri" pitchFamily="34" charset="-122"/>
                <a:cs typeface="Calibri" pitchFamily="34" charset="-120"/>
              </a:rPr>
              <a:t>Add &lt;START&gt; token: mark the beginning of each sequence to give the model a clear start-of-sentence signal.</a:t>
            </a:r>
            <a:endParaRPr lang="el-GR" sz="1400" dirty="0">
              <a:solidFill>
                <a:srgbClr val="000000"/>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en-US" sz="1400" dirty="0">
                <a:solidFill>
                  <a:srgbClr val="000000"/>
                </a:solidFill>
                <a:latin typeface="Calibri" pitchFamily="34" charset="0"/>
                <a:ea typeface="Calibri" pitchFamily="34" charset="-122"/>
                <a:cs typeface="Calibri" pitchFamily="34" charset="-120"/>
              </a:rPr>
              <a:t>Post padding + post truncation to MAX_LEN: make all sequences the same length for batching.</a:t>
            </a:r>
            <a:endParaRPr lang="en-US" sz="1400" dirty="0"/>
          </a:p>
        </p:txBody>
      </p:sp>
      <p:pic>
        <p:nvPicPr>
          <p:cNvPr id="12" name="Picture 11">
            <a:extLst>
              <a:ext uri="{FF2B5EF4-FFF2-40B4-BE49-F238E27FC236}">
                <a16:creationId xmlns:a16="http://schemas.microsoft.com/office/drawing/2014/main" id="{EB7C9E1E-9F0D-3083-A7E7-0B7871D8C7C0}"/>
              </a:ext>
            </a:extLst>
          </p:cNvPr>
          <p:cNvPicPr>
            <a:picLocks noChangeAspect="1"/>
          </p:cNvPicPr>
          <p:nvPr/>
        </p:nvPicPr>
        <p:blipFill>
          <a:blip r:embed="rId3"/>
          <a:stretch>
            <a:fillRect/>
          </a:stretch>
        </p:blipFill>
        <p:spPr>
          <a:xfrm>
            <a:off x="7167677" y="2096301"/>
            <a:ext cx="3408082" cy="734992"/>
          </a:xfrm>
          <a:prstGeom prst="rect">
            <a:avLst/>
          </a:prstGeom>
        </p:spPr>
      </p:pic>
      <p:pic>
        <p:nvPicPr>
          <p:cNvPr id="13" name="Picture 12">
            <a:extLst>
              <a:ext uri="{FF2B5EF4-FFF2-40B4-BE49-F238E27FC236}">
                <a16:creationId xmlns:a16="http://schemas.microsoft.com/office/drawing/2014/main" id="{2D0B0679-2AB2-5871-820A-45EECC7F3405}"/>
              </a:ext>
            </a:extLst>
          </p:cNvPr>
          <p:cNvPicPr>
            <a:picLocks noChangeAspect="1"/>
          </p:cNvPicPr>
          <p:nvPr/>
        </p:nvPicPr>
        <p:blipFill>
          <a:blip r:embed="rId4"/>
          <a:stretch>
            <a:fillRect/>
          </a:stretch>
        </p:blipFill>
        <p:spPr>
          <a:xfrm>
            <a:off x="7283515" y="2782216"/>
            <a:ext cx="3027549" cy="527611"/>
          </a:xfrm>
          <a:prstGeom prst="rect">
            <a:avLst/>
          </a:prstGeom>
        </p:spPr>
      </p:pic>
      <p:sp>
        <p:nvSpPr>
          <p:cNvPr id="15" name="Text 5">
            <a:extLst>
              <a:ext uri="{FF2B5EF4-FFF2-40B4-BE49-F238E27FC236}">
                <a16:creationId xmlns:a16="http://schemas.microsoft.com/office/drawing/2014/main" id="{45B5F715-20D4-FC85-97E1-D115B40AAD56}"/>
              </a:ext>
            </a:extLst>
          </p:cNvPr>
          <p:cNvSpPr/>
          <p:nvPr/>
        </p:nvSpPr>
        <p:spPr>
          <a:xfrm>
            <a:off x="7613498" y="1799428"/>
            <a:ext cx="1463349"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Custom Model</a:t>
            </a:r>
            <a:endParaRPr lang="en-US" sz="1600" dirty="0"/>
          </a:p>
        </p:txBody>
      </p:sp>
      <p:pic>
        <p:nvPicPr>
          <p:cNvPr id="17" name="Picture 16">
            <a:extLst>
              <a:ext uri="{FF2B5EF4-FFF2-40B4-BE49-F238E27FC236}">
                <a16:creationId xmlns:a16="http://schemas.microsoft.com/office/drawing/2014/main" id="{DC191E48-2D1C-8850-376B-DDCBB3D38DB7}"/>
              </a:ext>
            </a:extLst>
          </p:cNvPr>
          <p:cNvPicPr>
            <a:picLocks noChangeAspect="1"/>
          </p:cNvPicPr>
          <p:nvPr/>
        </p:nvPicPr>
        <p:blipFill>
          <a:blip r:embed="rId5"/>
          <a:stretch>
            <a:fillRect/>
          </a:stretch>
        </p:blipFill>
        <p:spPr>
          <a:xfrm>
            <a:off x="7246757" y="3719444"/>
            <a:ext cx="3991953" cy="1630378"/>
          </a:xfrm>
          <a:prstGeom prst="rect">
            <a:avLst/>
          </a:prstGeom>
        </p:spPr>
      </p:pic>
      <p:sp>
        <p:nvSpPr>
          <p:cNvPr id="18" name="Text 5">
            <a:extLst>
              <a:ext uri="{FF2B5EF4-FFF2-40B4-BE49-F238E27FC236}">
                <a16:creationId xmlns:a16="http://schemas.microsoft.com/office/drawing/2014/main" id="{E821A246-F03A-2856-7AB2-48C40FFBB42C}"/>
              </a:ext>
            </a:extLst>
          </p:cNvPr>
          <p:cNvSpPr/>
          <p:nvPr/>
        </p:nvSpPr>
        <p:spPr>
          <a:xfrm>
            <a:off x="7727799" y="3397710"/>
            <a:ext cx="1463349" cy="320040"/>
          </a:xfrm>
          <a:prstGeom prst="rect">
            <a:avLst/>
          </a:prstGeom>
          <a:noFill/>
          <a:ln/>
        </p:spPr>
        <p:txBody>
          <a:bodyPr wrap="square" rtlCol="0" anchor="ctr"/>
          <a:lstStyle/>
          <a:p>
            <a:r>
              <a:rPr lang="en-US" sz="1600" b="1" dirty="0" err="1">
                <a:solidFill>
                  <a:srgbClr val="000000"/>
                </a:solidFill>
                <a:latin typeface="Calibri" pitchFamily="34" charset="0"/>
                <a:ea typeface="Calibri" pitchFamily="34" charset="-122"/>
                <a:cs typeface="Calibri" pitchFamily="34" charset="-120"/>
              </a:rPr>
              <a:t>GloVe</a:t>
            </a:r>
            <a:r>
              <a:rPr lang="en-US" sz="1600" b="1" dirty="0">
                <a:solidFill>
                  <a:srgbClr val="000000"/>
                </a:solidFill>
                <a:latin typeface="Calibri" pitchFamily="34" charset="0"/>
                <a:ea typeface="Calibri" pitchFamily="34" charset="-122"/>
                <a:cs typeface="Calibri" pitchFamily="34" charset="-120"/>
              </a:rPr>
              <a:t> Model</a:t>
            </a:r>
            <a:endParaRPr lang="en-US" sz="1600" dirty="0"/>
          </a:p>
        </p:txBody>
      </p:sp>
      <p:pic>
        <p:nvPicPr>
          <p:cNvPr id="21" name="Picture 20">
            <a:extLst>
              <a:ext uri="{FF2B5EF4-FFF2-40B4-BE49-F238E27FC236}">
                <a16:creationId xmlns:a16="http://schemas.microsoft.com/office/drawing/2014/main" id="{681461D1-0CDE-3175-849F-F77AA54FAD82}"/>
              </a:ext>
            </a:extLst>
          </p:cNvPr>
          <p:cNvPicPr>
            <a:picLocks noChangeAspect="1"/>
          </p:cNvPicPr>
          <p:nvPr/>
        </p:nvPicPr>
        <p:blipFill>
          <a:blip r:embed="rId6"/>
          <a:stretch>
            <a:fillRect/>
          </a:stretch>
        </p:blipFill>
        <p:spPr>
          <a:xfrm>
            <a:off x="7062929" y="5311541"/>
            <a:ext cx="4256438" cy="1351419"/>
          </a:xfrm>
          <a:prstGeom prst="rect">
            <a:avLst/>
          </a:prstGeom>
        </p:spPr>
      </p:pic>
      <p:pic>
        <p:nvPicPr>
          <p:cNvPr id="28" name="Picture 27">
            <a:extLst>
              <a:ext uri="{FF2B5EF4-FFF2-40B4-BE49-F238E27FC236}">
                <a16:creationId xmlns:a16="http://schemas.microsoft.com/office/drawing/2014/main" id="{B4838C75-34BE-7224-DC61-67B73E112B11}"/>
              </a:ext>
            </a:extLst>
          </p:cNvPr>
          <p:cNvPicPr>
            <a:picLocks noChangeAspect="1"/>
          </p:cNvPicPr>
          <p:nvPr/>
        </p:nvPicPr>
        <p:blipFill>
          <a:blip r:embed="rId7"/>
          <a:stretch>
            <a:fillRect/>
          </a:stretch>
        </p:blipFill>
        <p:spPr>
          <a:xfrm>
            <a:off x="7167677" y="800141"/>
            <a:ext cx="3185651" cy="629442"/>
          </a:xfrm>
          <a:prstGeom prst="rect">
            <a:avLst/>
          </a:prstGeom>
        </p:spPr>
      </p:pic>
      <p:pic>
        <p:nvPicPr>
          <p:cNvPr id="30" name="Picture 29">
            <a:extLst>
              <a:ext uri="{FF2B5EF4-FFF2-40B4-BE49-F238E27FC236}">
                <a16:creationId xmlns:a16="http://schemas.microsoft.com/office/drawing/2014/main" id="{CF3EC23F-3C24-F87A-9DE3-633F7671CA01}"/>
              </a:ext>
            </a:extLst>
          </p:cNvPr>
          <p:cNvPicPr>
            <a:picLocks noChangeAspect="1"/>
          </p:cNvPicPr>
          <p:nvPr/>
        </p:nvPicPr>
        <p:blipFill>
          <a:blip r:embed="rId8"/>
          <a:stretch>
            <a:fillRect/>
          </a:stretch>
        </p:blipFill>
        <p:spPr>
          <a:xfrm>
            <a:off x="7257691" y="1471054"/>
            <a:ext cx="3094366" cy="245432"/>
          </a:xfrm>
          <a:prstGeom prst="rect">
            <a:avLst/>
          </a:prstGeom>
        </p:spPr>
      </p:pic>
    </p:spTree>
    <p:extLst>
      <p:ext uri="{BB962C8B-B14F-4D97-AF65-F5344CB8AC3E}">
        <p14:creationId xmlns:p14="http://schemas.microsoft.com/office/powerpoint/2010/main" val="3829835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274320"/>
            <a:ext cx="11064240" cy="548640"/>
          </a:xfrm>
          <a:prstGeom prst="rect">
            <a:avLst/>
          </a:prstGeom>
          <a:noFill/>
          <a:ln/>
        </p:spPr>
        <p:txBody>
          <a:bodyPr wrap="square" rtlCol="0" anchor="ctr"/>
          <a:lstStyle/>
          <a:p>
            <a:r>
              <a:rPr lang="en-US" sz="3400" b="1" dirty="0">
                <a:solidFill>
                  <a:srgbClr val="000000"/>
                </a:solidFill>
                <a:latin typeface="Calibri" pitchFamily="34" charset="0"/>
                <a:ea typeface="Calibri" pitchFamily="34" charset="-122"/>
                <a:cs typeface="Calibri" pitchFamily="34" charset="-120"/>
              </a:rPr>
              <a:t>1. Toxicity dataset - Set up</a:t>
            </a:r>
            <a:endParaRPr lang="en-US" sz="3400" dirty="0"/>
          </a:p>
        </p:txBody>
      </p:sp>
      <p:sp>
        <p:nvSpPr>
          <p:cNvPr id="4" name="Text 2"/>
          <p:cNvSpPr/>
          <p:nvPr/>
        </p:nvSpPr>
        <p:spPr>
          <a:xfrm>
            <a:off x="417547" y="1164475"/>
            <a:ext cx="5577840" cy="320040"/>
          </a:xfrm>
          <a:prstGeom prst="rect">
            <a:avLst/>
          </a:prstGeom>
          <a:noFill/>
          <a:ln/>
        </p:spPr>
        <p:txBody>
          <a:bodyPr wrap="square"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Model architecture (both variants)</a:t>
            </a:r>
            <a:endParaRPr lang="en-US" sz="1600" dirty="0"/>
          </a:p>
        </p:txBody>
      </p:sp>
      <p:sp>
        <p:nvSpPr>
          <p:cNvPr id="5" name="Shape 3"/>
          <p:cNvSpPr/>
          <p:nvPr/>
        </p:nvSpPr>
        <p:spPr>
          <a:xfrm>
            <a:off x="417547" y="1475371"/>
            <a:ext cx="5577840" cy="0"/>
          </a:xfrm>
          <a:prstGeom prst="line">
            <a:avLst/>
          </a:prstGeom>
          <a:noFill/>
          <a:ln w="12700">
            <a:solidFill>
              <a:srgbClr val="CFCFCF"/>
            </a:solidFill>
            <a:prstDash val="solid"/>
          </a:ln>
        </p:spPr>
      </p:sp>
      <p:sp>
        <p:nvSpPr>
          <p:cNvPr id="6" name="Text 4"/>
          <p:cNvSpPr/>
          <p:nvPr/>
        </p:nvSpPr>
        <p:spPr>
          <a:xfrm>
            <a:off x="417547" y="1575955"/>
            <a:ext cx="5577840" cy="1349943"/>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Input: padded token sequence post (MAX_LEN), seed = 2</a:t>
            </a:r>
            <a:endParaRPr lang="en-US" sz="1400" dirty="0"/>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Embedding layer: (A) Custom trainable embedding, </a:t>
            </a:r>
            <a:r>
              <a:rPr lang="en-US" sz="1400" dirty="0" err="1">
                <a:solidFill>
                  <a:srgbClr val="222222"/>
                </a:solidFill>
                <a:ea typeface="Calibri" pitchFamily="34" charset="-122"/>
                <a:cs typeface="Calibri" pitchFamily="34" charset="-120"/>
              </a:rPr>
              <a:t>mask_zero</a:t>
            </a:r>
            <a:r>
              <a:rPr lang="en-US" sz="1400" dirty="0">
                <a:solidFill>
                  <a:srgbClr val="222222"/>
                </a:solidFill>
                <a:ea typeface="Calibri" pitchFamily="34" charset="-122"/>
                <a:cs typeface="Calibri" pitchFamily="34" charset="-120"/>
              </a:rPr>
              <a:t>=True, or (B) </a:t>
            </a:r>
            <a:r>
              <a:rPr lang="en-US" sz="1400" dirty="0" err="1">
                <a:solidFill>
                  <a:srgbClr val="222222"/>
                </a:solidFill>
                <a:ea typeface="Calibri" pitchFamily="34" charset="-122"/>
                <a:cs typeface="Calibri" pitchFamily="34" charset="-120"/>
              </a:rPr>
              <a:t>GloVe</a:t>
            </a:r>
            <a:r>
              <a:rPr lang="en-US" sz="1400" dirty="0">
                <a:solidFill>
                  <a:srgbClr val="222222"/>
                </a:solidFill>
                <a:ea typeface="Calibri" pitchFamily="34" charset="-122"/>
                <a:cs typeface="Calibri" pitchFamily="34" charset="-120"/>
              </a:rPr>
              <a:t> matrix </a:t>
            </a:r>
            <a:r>
              <a:rPr lang="en-US" sz="1400" dirty="0" err="1">
                <a:solidFill>
                  <a:srgbClr val="222222"/>
                </a:solidFill>
                <a:ea typeface="Calibri" pitchFamily="34" charset="-122"/>
                <a:cs typeface="Calibri" pitchFamily="34" charset="-120"/>
              </a:rPr>
              <a:t>init</a:t>
            </a:r>
            <a:r>
              <a:rPr lang="en-US" sz="1400" dirty="0">
                <a:solidFill>
                  <a:srgbClr val="222222"/>
                </a:solidFill>
                <a:ea typeface="Calibri" pitchFamily="34" charset="-122"/>
                <a:cs typeface="Calibri" pitchFamily="34" charset="-120"/>
              </a:rPr>
              <a:t> (x = </a:t>
            </a:r>
            <a:r>
              <a:rPr lang="en-US" sz="1400" dirty="0" err="1">
                <a:solidFill>
                  <a:srgbClr val="222222"/>
                </a:solidFill>
                <a:ea typeface="Calibri" pitchFamily="34" charset="-122"/>
                <a:cs typeface="Calibri" pitchFamily="34" charset="-120"/>
              </a:rPr>
              <a:t>glove_embedding_layer</a:t>
            </a:r>
            <a:r>
              <a:rPr lang="en-US" sz="1400" dirty="0">
                <a:solidFill>
                  <a:srgbClr val="222222"/>
                </a:solidFill>
                <a:ea typeface="Calibri" pitchFamily="34" charset="-122"/>
                <a:cs typeface="Calibri" pitchFamily="34" charset="-120"/>
              </a:rPr>
              <a:t>(</a:t>
            </a:r>
            <a:r>
              <a:rPr lang="en-US" sz="1400" dirty="0" err="1">
                <a:solidFill>
                  <a:srgbClr val="222222"/>
                </a:solidFill>
                <a:ea typeface="Calibri" pitchFamily="34" charset="-122"/>
                <a:cs typeface="Calibri" pitchFamily="34" charset="-120"/>
              </a:rPr>
              <a:t>inputs_glove</a:t>
            </a:r>
            <a:r>
              <a:rPr lang="en-US" sz="1400" dirty="0">
                <a:solidFill>
                  <a:srgbClr val="222222"/>
                </a:solidFill>
                <a:ea typeface="Calibri" pitchFamily="34" charset="-122"/>
                <a:cs typeface="Calibri" pitchFamily="34" charset="-120"/>
              </a:rPr>
              <a:t>))</a:t>
            </a:r>
            <a:endParaRPr lang="en-US" sz="1400" dirty="0"/>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LSTM(128, return_sequences=True) + SpatialDropout1D(0.2)</a:t>
            </a:r>
            <a:endParaRPr lang="en-US" sz="1400" dirty="0"/>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Bidirectional LSTM(128, return_sequences=True) + GlobalMaxPooling1D</a:t>
            </a:r>
            <a:endParaRPr lang="en-US" sz="1400" dirty="0"/>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Dense(64, ReLU) + Dropout(0.5) → Dense(1, Sigmoid)</a:t>
            </a:r>
          </a:p>
          <a:p>
            <a:pPr marL="228600" indent="-228600">
              <a:buSzPct val="100000"/>
              <a:buChar char="•"/>
            </a:pPr>
            <a:endParaRPr lang="en-US" sz="1400" dirty="0"/>
          </a:p>
        </p:txBody>
      </p:sp>
      <p:sp>
        <p:nvSpPr>
          <p:cNvPr id="10" name="Shape 8"/>
          <p:cNvSpPr/>
          <p:nvPr/>
        </p:nvSpPr>
        <p:spPr>
          <a:xfrm>
            <a:off x="6196614" y="822959"/>
            <a:ext cx="5690586" cy="5826411"/>
          </a:xfrm>
          <a:prstGeom prst="roundRect">
            <a:avLst/>
          </a:prstGeom>
          <a:solidFill>
            <a:srgbClr val="FFFFFF"/>
          </a:solidFill>
          <a:ln w="12700">
            <a:solidFill>
              <a:srgbClr val="D9D9D9"/>
            </a:solidFill>
            <a:prstDash val="solid"/>
          </a:ln>
        </p:spPr>
      </p:sp>
      <p:pic>
        <p:nvPicPr>
          <p:cNvPr id="21" name="Picture 20">
            <a:extLst>
              <a:ext uri="{FF2B5EF4-FFF2-40B4-BE49-F238E27FC236}">
                <a16:creationId xmlns:a16="http://schemas.microsoft.com/office/drawing/2014/main" id="{AEAE5039-B11B-FC3B-6BEB-084B2A0308B8}"/>
              </a:ext>
            </a:extLst>
          </p:cNvPr>
          <p:cNvPicPr>
            <a:picLocks noChangeAspect="1"/>
          </p:cNvPicPr>
          <p:nvPr/>
        </p:nvPicPr>
        <p:blipFill>
          <a:blip r:embed="rId3"/>
          <a:stretch>
            <a:fillRect/>
          </a:stretch>
        </p:blipFill>
        <p:spPr>
          <a:xfrm>
            <a:off x="6601581" y="1194575"/>
            <a:ext cx="4880651" cy="2738233"/>
          </a:xfrm>
          <a:prstGeom prst="rect">
            <a:avLst/>
          </a:prstGeom>
        </p:spPr>
      </p:pic>
      <p:pic>
        <p:nvPicPr>
          <p:cNvPr id="23" name="Picture 22">
            <a:extLst>
              <a:ext uri="{FF2B5EF4-FFF2-40B4-BE49-F238E27FC236}">
                <a16:creationId xmlns:a16="http://schemas.microsoft.com/office/drawing/2014/main" id="{D09FBE0F-0367-8FE9-F550-1140717DC618}"/>
              </a:ext>
            </a:extLst>
          </p:cNvPr>
          <p:cNvPicPr>
            <a:picLocks noChangeAspect="1"/>
          </p:cNvPicPr>
          <p:nvPr/>
        </p:nvPicPr>
        <p:blipFill>
          <a:blip r:embed="rId4"/>
          <a:stretch>
            <a:fillRect/>
          </a:stretch>
        </p:blipFill>
        <p:spPr>
          <a:xfrm>
            <a:off x="6601581" y="4141661"/>
            <a:ext cx="4880651" cy="2002982"/>
          </a:xfrm>
          <a:prstGeom prst="rect">
            <a:avLst/>
          </a:prstGeom>
        </p:spPr>
      </p:pic>
      <p:sp>
        <p:nvSpPr>
          <p:cNvPr id="7" name="Text 5">
            <a:extLst>
              <a:ext uri="{FF2B5EF4-FFF2-40B4-BE49-F238E27FC236}">
                <a16:creationId xmlns:a16="http://schemas.microsoft.com/office/drawing/2014/main" id="{985E61AD-A7E8-1E0F-EB4A-5B2704E1DC07}"/>
              </a:ext>
            </a:extLst>
          </p:cNvPr>
          <p:cNvSpPr/>
          <p:nvPr/>
        </p:nvSpPr>
        <p:spPr>
          <a:xfrm>
            <a:off x="304800" y="3161761"/>
            <a:ext cx="5577840" cy="320040"/>
          </a:xfrm>
          <a:prstGeom prst="rect">
            <a:avLst/>
          </a:prstGeom>
          <a:noFill/>
          <a:ln/>
        </p:spPr>
        <p:txBody>
          <a:bodyPr wrap="square"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Training / evaluation</a:t>
            </a:r>
            <a:endParaRPr lang="en-US" sz="1600" dirty="0"/>
          </a:p>
        </p:txBody>
      </p:sp>
      <p:sp>
        <p:nvSpPr>
          <p:cNvPr id="8" name="Text 7">
            <a:extLst>
              <a:ext uri="{FF2B5EF4-FFF2-40B4-BE49-F238E27FC236}">
                <a16:creationId xmlns:a16="http://schemas.microsoft.com/office/drawing/2014/main" id="{6C37AB66-AD17-2B55-8741-D6E26128F5E4}"/>
              </a:ext>
            </a:extLst>
          </p:cNvPr>
          <p:cNvSpPr/>
          <p:nvPr/>
        </p:nvSpPr>
        <p:spPr>
          <a:xfrm>
            <a:off x="355333" y="3530170"/>
            <a:ext cx="5577840" cy="3053510"/>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Compile: optimizer = Adam </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loss = </a:t>
            </a:r>
            <a:r>
              <a:rPr lang="en-US" sz="1400" dirty="0" err="1">
                <a:solidFill>
                  <a:srgbClr val="222222"/>
                </a:solidFill>
                <a:ea typeface="Calibri" pitchFamily="34" charset="-122"/>
                <a:cs typeface="Calibri" pitchFamily="34" charset="-120"/>
              </a:rPr>
              <a:t>binary_crossentropy</a:t>
            </a:r>
            <a:endParaRPr lang="en-US" sz="1400" dirty="0">
              <a:solidFill>
                <a:srgbClr val="222222"/>
              </a:solidFill>
              <a:ea typeface="Calibri" pitchFamily="34" charset="-122"/>
              <a:cs typeface="Calibri" pitchFamily="34" charset="-120"/>
            </a:endParaRP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metric = </a:t>
            </a:r>
            <a:r>
              <a:rPr lang="en-US" sz="1400" dirty="0" err="1">
                <a:solidFill>
                  <a:srgbClr val="222222"/>
                </a:solidFill>
                <a:ea typeface="Calibri" pitchFamily="34" charset="-122"/>
                <a:cs typeface="Calibri" pitchFamily="34" charset="-120"/>
              </a:rPr>
              <a:t>accuracyTraining</a:t>
            </a:r>
            <a:r>
              <a:rPr lang="en-US" sz="1400" dirty="0">
                <a:solidFill>
                  <a:srgbClr val="222222"/>
                </a:solidFill>
                <a:ea typeface="Calibri" pitchFamily="34" charset="-122"/>
                <a:cs typeface="Calibri" pitchFamily="34" charset="-120"/>
              </a:rPr>
              <a:t>: batch size = 32</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epochs = 15 (with early stopping)</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Imbalance handling: </a:t>
            </a:r>
            <a:r>
              <a:rPr lang="en-US" sz="1400" dirty="0" err="1">
                <a:solidFill>
                  <a:srgbClr val="222222"/>
                </a:solidFill>
                <a:ea typeface="Calibri" pitchFamily="34" charset="-122"/>
                <a:cs typeface="Calibri" pitchFamily="34" charset="-120"/>
              </a:rPr>
              <a:t>class_weight</a:t>
            </a:r>
            <a:r>
              <a:rPr lang="en-US" sz="1400" dirty="0">
                <a:solidFill>
                  <a:srgbClr val="222222"/>
                </a:solidFill>
                <a:ea typeface="Calibri" pitchFamily="34" charset="-122"/>
                <a:cs typeface="Calibri" pitchFamily="34" charset="-120"/>
              </a:rPr>
              <a:t> = </a:t>
            </a:r>
            <a:r>
              <a:rPr lang="en-US" sz="1400" dirty="0" err="1">
                <a:solidFill>
                  <a:srgbClr val="222222"/>
                </a:solidFill>
                <a:ea typeface="Calibri" pitchFamily="34" charset="-122"/>
                <a:cs typeface="Calibri" pitchFamily="34" charset="-120"/>
              </a:rPr>
              <a:t>class_weight_dict</a:t>
            </a:r>
            <a:r>
              <a:rPr lang="el-GR" sz="1400" dirty="0">
                <a:solidFill>
                  <a:srgbClr val="222222"/>
                </a:solidFill>
                <a:ea typeface="Calibri" pitchFamily="34" charset="-122"/>
                <a:cs typeface="Calibri" pitchFamily="34" charset="-120"/>
              </a:rPr>
              <a:t> (</a:t>
            </a:r>
            <a:r>
              <a:rPr lang="en-US" sz="1400" dirty="0">
                <a:solidFill>
                  <a:srgbClr val="222222"/>
                </a:solidFill>
                <a:ea typeface="Calibri" pitchFamily="34" charset="-122"/>
                <a:cs typeface="Calibri" pitchFamily="34" charset="-120"/>
              </a:rPr>
              <a:t>else 70% accuracy and 0% f1 score, class 0 / non-toxic: 8861 vs. class 1 / toxic: 2963)</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Early stopping: monitor </a:t>
            </a:r>
            <a:r>
              <a:rPr lang="en-US" sz="1400" dirty="0" err="1">
                <a:solidFill>
                  <a:srgbClr val="222222"/>
                </a:solidFill>
                <a:ea typeface="Calibri" pitchFamily="34" charset="-122"/>
                <a:cs typeface="Calibri" pitchFamily="34" charset="-120"/>
              </a:rPr>
              <a:t>val_loss</a:t>
            </a:r>
            <a:r>
              <a:rPr lang="en-US" sz="1400" dirty="0">
                <a:solidFill>
                  <a:srgbClr val="222222"/>
                </a:solidFill>
                <a:ea typeface="Calibri" pitchFamily="34" charset="-122"/>
                <a:cs typeface="Calibri" pitchFamily="34" charset="-120"/>
              </a:rPr>
              <a:t>, patience = 2, </a:t>
            </a:r>
            <a:r>
              <a:rPr lang="en-US" sz="1400" dirty="0" err="1">
                <a:solidFill>
                  <a:srgbClr val="222222"/>
                </a:solidFill>
                <a:ea typeface="Calibri" pitchFamily="34" charset="-122"/>
                <a:cs typeface="Calibri" pitchFamily="34" charset="-120"/>
              </a:rPr>
              <a:t>restore_best_weights</a:t>
            </a:r>
            <a:r>
              <a:rPr lang="en-US" sz="1400" dirty="0">
                <a:solidFill>
                  <a:srgbClr val="222222"/>
                </a:solidFill>
                <a:ea typeface="Calibri" pitchFamily="34" charset="-122"/>
                <a:cs typeface="Calibri" pitchFamily="34" charset="-120"/>
              </a:rPr>
              <a:t>=True</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Class imbalance handled with class weights (to avoid majority-class collapse)</a:t>
            </a:r>
            <a:endParaRPr lang="en-US" sz="1400" dirty="0"/>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Early stopping used to reduce overfitting (train improves while val stops improving)</a:t>
            </a:r>
            <a:endParaRPr lang="en-US" sz="1400" dirty="0"/>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Decision threshold tuned on validation set (instead of fixed 0.5)</a:t>
            </a:r>
            <a:endParaRPr lang="en-US" sz="1400" dirty="0"/>
          </a:p>
        </p:txBody>
      </p:sp>
      <p:sp>
        <p:nvSpPr>
          <p:cNvPr id="9" name="Shape 6">
            <a:extLst>
              <a:ext uri="{FF2B5EF4-FFF2-40B4-BE49-F238E27FC236}">
                <a16:creationId xmlns:a16="http://schemas.microsoft.com/office/drawing/2014/main" id="{771C21FA-05EC-4595-B6ED-E78E6DC99554}"/>
              </a:ext>
            </a:extLst>
          </p:cNvPr>
          <p:cNvSpPr/>
          <p:nvPr/>
        </p:nvSpPr>
        <p:spPr>
          <a:xfrm>
            <a:off x="355332" y="3496960"/>
            <a:ext cx="5640055" cy="33210"/>
          </a:xfrm>
          <a:prstGeom prst="line">
            <a:avLst/>
          </a:prstGeom>
          <a:noFill/>
          <a:ln w="12700">
            <a:solidFill>
              <a:srgbClr val="CFCFC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11064240" cy="548640"/>
          </a:xfrm>
          <a:prstGeom prst="rect">
            <a:avLst/>
          </a:prstGeom>
          <a:noFill/>
          <a:ln/>
        </p:spPr>
        <p:txBody>
          <a:bodyPr wrap="square" rtlCol="0" anchor="ctr"/>
          <a:lstStyle/>
          <a:p>
            <a:r>
              <a:rPr lang="en-US" sz="3400" b="1" dirty="0">
                <a:solidFill>
                  <a:srgbClr val="000000"/>
                </a:solidFill>
                <a:latin typeface="Calibri" pitchFamily="34" charset="0"/>
                <a:ea typeface="Calibri" pitchFamily="34" charset="-122"/>
                <a:cs typeface="Calibri" pitchFamily="34" charset="-120"/>
              </a:rPr>
              <a:t>1. Toxicity dataset - Results</a:t>
            </a:r>
            <a:endParaRPr lang="en-US" sz="3400" dirty="0"/>
          </a:p>
        </p:txBody>
      </p:sp>
      <p:sp>
        <p:nvSpPr>
          <p:cNvPr id="4" name="Text 2"/>
          <p:cNvSpPr/>
          <p:nvPr/>
        </p:nvSpPr>
        <p:spPr>
          <a:xfrm>
            <a:off x="502919" y="1280160"/>
            <a:ext cx="6035040" cy="320040"/>
          </a:xfrm>
          <a:prstGeom prst="rect">
            <a:avLst/>
          </a:prstGeom>
          <a:noFill/>
          <a:ln/>
        </p:spPr>
        <p:txBody>
          <a:bodyPr wrap="square"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Test set performance</a:t>
            </a:r>
            <a:endParaRPr lang="en-US" sz="1600" dirty="0"/>
          </a:p>
        </p:txBody>
      </p:sp>
      <p:sp>
        <p:nvSpPr>
          <p:cNvPr id="5" name="Shape 3"/>
          <p:cNvSpPr/>
          <p:nvPr/>
        </p:nvSpPr>
        <p:spPr>
          <a:xfrm>
            <a:off x="502918" y="1600200"/>
            <a:ext cx="6035041" cy="0"/>
          </a:xfrm>
          <a:prstGeom prst="line">
            <a:avLst/>
          </a:prstGeom>
          <a:noFill/>
          <a:ln w="12700">
            <a:solidFill>
              <a:srgbClr val="CFCFCF"/>
            </a:solidFill>
            <a:prstDash val="solid"/>
          </a:ln>
        </p:spPr>
      </p:sp>
      <p:sp>
        <p:nvSpPr>
          <p:cNvPr id="6" name="Text 4"/>
          <p:cNvSpPr/>
          <p:nvPr/>
        </p:nvSpPr>
        <p:spPr>
          <a:xfrm>
            <a:off x="502919" y="1661562"/>
            <a:ext cx="6217920" cy="1472663"/>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err="1">
                <a:solidFill>
                  <a:srgbClr val="222222"/>
                </a:solidFill>
                <a:ea typeface="Calibri" pitchFamily="34" charset="-122"/>
                <a:cs typeface="Calibri" pitchFamily="34" charset="-120"/>
              </a:rPr>
              <a:t>GloVe</a:t>
            </a:r>
            <a:r>
              <a:rPr lang="en-US" sz="1400" dirty="0">
                <a:solidFill>
                  <a:srgbClr val="222222"/>
                </a:solidFill>
                <a:ea typeface="Calibri" pitchFamily="34" charset="-122"/>
                <a:cs typeface="Calibri" pitchFamily="34" charset="-120"/>
              </a:rPr>
              <a:t> best threshold (val) = 0.60</a:t>
            </a:r>
          </a:p>
          <a:p>
            <a:pPr lvl="1">
              <a:buSzPct val="100000"/>
            </a:pPr>
            <a:r>
              <a:rPr lang="en-US" sz="1400" dirty="0">
                <a:solidFill>
                  <a:srgbClr val="222222"/>
                </a:solidFill>
                <a:ea typeface="Calibri" pitchFamily="34" charset="-122"/>
                <a:cs typeface="Calibri" pitchFamily="34" charset="-120"/>
              </a:rPr>
              <a:t>Test Accuracy = 0.912, F1 = 0.825, Confusion: TN=1798 FP=110 FN=114                            TP=528</a:t>
            </a:r>
            <a:endParaRPr lang="en-US" sz="1400" dirty="0"/>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Custom trainable embedding: best threshold (val) = 0.75  </a:t>
            </a:r>
          </a:p>
          <a:p>
            <a:pPr>
              <a:buSzPct val="100000"/>
            </a:pPr>
            <a:r>
              <a:rPr lang="en-US" sz="1400" dirty="0">
                <a:solidFill>
                  <a:srgbClr val="222222"/>
                </a:solidFill>
                <a:ea typeface="Calibri" pitchFamily="34" charset="-122"/>
                <a:cs typeface="Calibri" pitchFamily="34" charset="-120"/>
              </a:rPr>
              <a:t>          Test Accuracy = 0.909, F1 = 0.804, Confusion: TN=1844 FP=64 FN=167 TP=475</a:t>
            </a:r>
            <a:endParaRPr lang="en-US" sz="1400" dirty="0"/>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Observation: without early stopping, train accuracy → ~0.99 overfitting risk</a:t>
            </a:r>
            <a:endParaRPr lang="en-US" sz="1400" dirty="0"/>
          </a:p>
        </p:txBody>
      </p:sp>
      <p:sp>
        <p:nvSpPr>
          <p:cNvPr id="7" name="Text 5"/>
          <p:cNvSpPr/>
          <p:nvPr/>
        </p:nvSpPr>
        <p:spPr>
          <a:xfrm>
            <a:off x="6858000" y="1325880"/>
            <a:ext cx="5303520" cy="274320"/>
          </a:xfrm>
          <a:prstGeom prst="rect">
            <a:avLst/>
          </a:prstGeom>
          <a:noFill/>
          <a:ln/>
        </p:spPr>
        <p:txBody>
          <a:bodyPr wrap="square" rtlCol="0" anchor="ctr"/>
          <a:lstStyle/>
          <a:p>
            <a:pPr marL="0" indent="0">
              <a:buNone/>
            </a:pPr>
            <a:r>
              <a:rPr lang="en-US" sz="1600" b="1" dirty="0">
                <a:solidFill>
                  <a:srgbClr val="111111"/>
                </a:solidFill>
                <a:latin typeface="Calibri" pitchFamily="34" charset="0"/>
                <a:ea typeface="Calibri" pitchFamily="34" charset="-122"/>
                <a:cs typeface="Calibri" pitchFamily="34" charset="-120"/>
              </a:rPr>
              <a:t>Learning curves</a:t>
            </a:r>
            <a:endParaRPr lang="en-US" sz="1600" dirty="0"/>
          </a:p>
        </p:txBody>
      </p:sp>
      <p:pic>
        <p:nvPicPr>
          <p:cNvPr id="8" name="Image 0" descr="/mnt/data/val-train-loss-custom-model.png"/>
          <p:cNvPicPr>
            <a:picLocks noChangeAspect="1"/>
          </p:cNvPicPr>
          <p:nvPr/>
        </p:nvPicPr>
        <p:blipFill>
          <a:blip r:embed="rId3"/>
          <a:stretch>
            <a:fillRect/>
          </a:stretch>
        </p:blipFill>
        <p:spPr>
          <a:xfrm>
            <a:off x="6858000" y="1645920"/>
            <a:ext cx="2514600" cy="1965960"/>
          </a:xfrm>
          <a:prstGeom prst="rect">
            <a:avLst/>
          </a:prstGeom>
        </p:spPr>
      </p:pic>
      <p:pic>
        <p:nvPicPr>
          <p:cNvPr id="9" name="Image 1" descr="/mnt/data/glove-model-loss-plot.png"/>
          <p:cNvPicPr>
            <a:picLocks noChangeAspect="1"/>
          </p:cNvPicPr>
          <p:nvPr/>
        </p:nvPicPr>
        <p:blipFill>
          <a:blip r:embed="rId4"/>
          <a:stretch>
            <a:fillRect/>
          </a:stretch>
        </p:blipFill>
        <p:spPr>
          <a:xfrm>
            <a:off x="9601200" y="1645920"/>
            <a:ext cx="2514600" cy="1965960"/>
          </a:xfrm>
          <a:prstGeom prst="rect">
            <a:avLst/>
          </a:prstGeom>
        </p:spPr>
      </p:pic>
      <p:pic>
        <p:nvPicPr>
          <p:cNvPr id="10" name="Image 2" descr="/mnt/data/val-train-accutacy-custom-model.png"/>
          <p:cNvPicPr>
            <a:picLocks noChangeAspect="1"/>
          </p:cNvPicPr>
          <p:nvPr/>
        </p:nvPicPr>
        <p:blipFill>
          <a:blip r:embed="rId5"/>
          <a:stretch>
            <a:fillRect/>
          </a:stretch>
        </p:blipFill>
        <p:spPr>
          <a:xfrm>
            <a:off x="6858000" y="3840480"/>
            <a:ext cx="2514600" cy="1965960"/>
          </a:xfrm>
          <a:prstGeom prst="rect">
            <a:avLst/>
          </a:prstGeom>
        </p:spPr>
      </p:pic>
      <p:pic>
        <p:nvPicPr>
          <p:cNvPr id="11" name="Image 3" descr="/mnt/data/glove-model-accuracy-plot.png"/>
          <p:cNvPicPr>
            <a:picLocks noChangeAspect="1"/>
          </p:cNvPicPr>
          <p:nvPr/>
        </p:nvPicPr>
        <p:blipFill>
          <a:blip r:embed="rId6"/>
          <a:stretch>
            <a:fillRect/>
          </a:stretch>
        </p:blipFill>
        <p:spPr>
          <a:xfrm>
            <a:off x="9601200" y="3840480"/>
            <a:ext cx="2514600" cy="19659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F921003-C033-50B9-FC1A-37539F8EB59C}"/>
              </a:ext>
            </a:extLst>
          </p:cNvPr>
          <p:cNvSpPr/>
          <p:nvPr/>
        </p:nvSpPr>
        <p:spPr>
          <a:xfrm>
            <a:off x="548640" y="274320"/>
            <a:ext cx="11064240" cy="54864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2. STS-b Dataset - Roberta vs Electra</a:t>
            </a:r>
            <a:endParaRPr lang="en-US" sz="3400" dirty="0"/>
          </a:p>
        </p:txBody>
      </p:sp>
      <p:sp>
        <p:nvSpPr>
          <p:cNvPr id="3" name="Text 2">
            <a:extLst>
              <a:ext uri="{FF2B5EF4-FFF2-40B4-BE49-F238E27FC236}">
                <a16:creationId xmlns:a16="http://schemas.microsoft.com/office/drawing/2014/main" id="{80BDC38F-4156-7B8F-12B7-E19A4B252E19}"/>
              </a:ext>
            </a:extLst>
          </p:cNvPr>
          <p:cNvSpPr/>
          <p:nvPr/>
        </p:nvSpPr>
        <p:spPr>
          <a:xfrm>
            <a:off x="417547" y="1164475"/>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Preprocessing</a:t>
            </a:r>
            <a:r>
              <a:rPr lang="en-US" sz="1600" b="1" dirty="0">
                <a:solidFill>
                  <a:srgbClr val="111111"/>
                </a:solidFill>
                <a:latin typeface="Calibri" pitchFamily="34" charset="0"/>
                <a:ea typeface="Calibri" pitchFamily="34" charset="-122"/>
                <a:cs typeface="Calibri" pitchFamily="34" charset="-120"/>
              </a:rPr>
              <a:t> and Hyper Parameters</a:t>
            </a:r>
            <a:endParaRPr lang="en-US" sz="1600" dirty="0"/>
          </a:p>
        </p:txBody>
      </p:sp>
      <p:sp>
        <p:nvSpPr>
          <p:cNvPr id="4" name="Shape 3">
            <a:extLst>
              <a:ext uri="{FF2B5EF4-FFF2-40B4-BE49-F238E27FC236}">
                <a16:creationId xmlns:a16="http://schemas.microsoft.com/office/drawing/2014/main" id="{9D10B287-9A9F-3660-D902-CCF2118197D5}"/>
              </a:ext>
            </a:extLst>
          </p:cNvPr>
          <p:cNvSpPr/>
          <p:nvPr/>
        </p:nvSpPr>
        <p:spPr>
          <a:xfrm>
            <a:off x="417547" y="1475371"/>
            <a:ext cx="5577840" cy="0"/>
          </a:xfrm>
          <a:prstGeom prst="line">
            <a:avLst/>
          </a:prstGeom>
          <a:noFill/>
          <a:ln w="12700">
            <a:solidFill>
              <a:srgbClr val="CFCFCF"/>
            </a:solidFill>
            <a:prstDash val="solid"/>
          </a:ln>
        </p:spPr>
      </p:sp>
      <p:sp>
        <p:nvSpPr>
          <p:cNvPr id="5" name="Text 4">
            <a:extLst>
              <a:ext uri="{FF2B5EF4-FFF2-40B4-BE49-F238E27FC236}">
                <a16:creationId xmlns:a16="http://schemas.microsoft.com/office/drawing/2014/main" id="{6F56459A-F959-0177-B51F-8F6FB1847D13}"/>
              </a:ext>
            </a:extLst>
          </p:cNvPr>
          <p:cNvSpPr/>
          <p:nvPr/>
        </p:nvSpPr>
        <p:spPr>
          <a:xfrm>
            <a:off x="417547" y="1575956"/>
            <a:ext cx="5577840" cy="2466656"/>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Select Models: Defined a list of stable models (</a:t>
            </a:r>
            <a:r>
              <a:rPr lang="en-US" sz="1400" dirty="0" err="1">
                <a:solidFill>
                  <a:srgbClr val="222222"/>
                </a:solidFill>
                <a:ea typeface="Calibri" pitchFamily="34" charset="-122"/>
                <a:cs typeface="Calibri" pitchFamily="34" charset="-120"/>
              </a:rPr>
              <a:t>roberta</a:t>
            </a:r>
            <a:r>
              <a:rPr lang="en-US" sz="1400" dirty="0">
                <a:solidFill>
                  <a:srgbClr val="222222"/>
                </a:solidFill>
                <a:ea typeface="Calibri" pitchFamily="34" charset="-122"/>
                <a:cs typeface="Calibri" pitchFamily="34" charset="-120"/>
              </a:rPr>
              <a:t>-base and google/</a:t>
            </a:r>
            <a:r>
              <a:rPr lang="en-US" sz="1400" dirty="0" err="1">
                <a:solidFill>
                  <a:srgbClr val="222222"/>
                </a:solidFill>
                <a:ea typeface="Calibri" pitchFamily="34" charset="-122"/>
                <a:cs typeface="Calibri" pitchFamily="34" charset="-120"/>
              </a:rPr>
              <a:t>electra</a:t>
            </a:r>
            <a:r>
              <a:rPr lang="en-US" sz="1400" dirty="0">
                <a:solidFill>
                  <a:srgbClr val="222222"/>
                </a:solidFill>
                <a:ea typeface="Calibri" pitchFamily="34" charset="-122"/>
                <a:cs typeface="Calibri" pitchFamily="34" charset="-120"/>
              </a:rPr>
              <a:t>-base-discriminator) to train and compare.</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Tokenize Pairs: Applied the tokenizer to sentence1 and sentence2 simultaneously, using truncation to handle long sequences.</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Initialize Regression Head: Loaded pre-trained models with </a:t>
            </a:r>
            <a:r>
              <a:rPr lang="en-US" sz="1400" dirty="0" err="1">
                <a:solidFill>
                  <a:srgbClr val="222222"/>
                </a:solidFill>
                <a:ea typeface="Calibri" pitchFamily="34" charset="-122"/>
                <a:cs typeface="Calibri" pitchFamily="34" charset="-120"/>
              </a:rPr>
              <a:t>num_labels</a:t>
            </a:r>
            <a:r>
              <a:rPr lang="en-US" sz="1400" dirty="0">
                <a:solidFill>
                  <a:srgbClr val="222222"/>
                </a:solidFill>
                <a:ea typeface="Calibri" pitchFamily="34" charset="-122"/>
                <a:cs typeface="Calibri" pitchFamily="34" charset="-120"/>
              </a:rPr>
              <a:t>=1, configuring them to output a continuous score instead of a classification category.</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Configure Training: Set hyperparameters including a learning rate of 2e-5, batch size of 16, and 3 training epochs.</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Setup Trainer: Initialized the Trainer with dynamic padding and custom metrics (Pearson/Spearman) to manage the training loop.</a:t>
            </a:r>
            <a:endParaRPr lang="en-US" sz="1400" dirty="0"/>
          </a:p>
        </p:txBody>
      </p:sp>
      <p:sp>
        <p:nvSpPr>
          <p:cNvPr id="6" name="Shape 8">
            <a:extLst>
              <a:ext uri="{FF2B5EF4-FFF2-40B4-BE49-F238E27FC236}">
                <a16:creationId xmlns:a16="http://schemas.microsoft.com/office/drawing/2014/main" id="{E82BD747-7814-708A-CBC4-2D89BEDACE81}"/>
              </a:ext>
            </a:extLst>
          </p:cNvPr>
          <p:cNvSpPr/>
          <p:nvPr/>
        </p:nvSpPr>
        <p:spPr>
          <a:xfrm>
            <a:off x="6196614" y="822960"/>
            <a:ext cx="5690586" cy="5826411"/>
          </a:xfrm>
          <a:prstGeom prst="roundRect">
            <a:avLst/>
          </a:prstGeom>
          <a:solidFill>
            <a:srgbClr val="FFFFFF"/>
          </a:solidFill>
          <a:ln w="12700">
            <a:solidFill>
              <a:srgbClr val="D9D9D9"/>
            </a:solidFill>
            <a:prstDash val="solid"/>
          </a:ln>
        </p:spPr>
      </p:sp>
      <p:pic>
        <p:nvPicPr>
          <p:cNvPr id="26" name="Picture 25">
            <a:extLst>
              <a:ext uri="{FF2B5EF4-FFF2-40B4-BE49-F238E27FC236}">
                <a16:creationId xmlns:a16="http://schemas.microsoft.com/office/drawing/2014/main" id="{F2C3FCBF-ABA0-0EEF-7574-EB75252457B3}"/>
              </a:ext>
            </a:extLst>
          </p:cNvPr>
          <p:cNvPicPr>
            <a:picLocks noChangeAspect="1"/>
          </p:cNvPicPr>
          <p:nvPr/>
        </p:nvPicPr>
        <p:blipFill>
          <a:blip r:embed="rId2"/>
          <a:stretch>
            <a:fillRect/>
          </a:stretch>
        </p:blipFill>
        <p:spPr>
          <a:xfrm>
            <a:off x="6638775" y="1128778"/>
            <a:ext cx="4381205" cy="2223210"/>
          </a:xfrm>
          <a:prstGeom prst="rect">
            <a:avLst/>
          </a:prstGeom>
        </p:spPr>
      </p:pic>
      <p:pic>
        <p:nvPicPr>
          <p:cNvPr id="30" name="Picture 29">
            <a:extLst>
              <a:ext uri="{FF2B5EF4-FFF2-40B4-BE49-F238E27FC236}">
                <a16:creationId xmlns:a16="http://schemas.microsoft.com/office/drawing/2014/main" id="{BF635079-8902-6F0E-EA9A-C7A90EF367CD}"/>
              </a:ext>
            </a:extLst>
          </p:cNvPr>
          <p:cNvPicPr>
            <a:picLocks noChangeAspect="1"/>
          </p:cNvPicPr>
          <p:nvPr/>
        </p:nvPicPr>
        <p:blipFill>
          <a:blip r:embed="rId3"/>
          <a:stretch>
            <a:fillRect/>
          </a:stretch>
        </p:blipFill>
        <p:spPr>
          <a:xfrm>
            <a:off x="6821792" y="3525251"/>
            <a:ext cx="4433749" cy="2950857"/>
          </a:xfrm>
          <a:prstGeom prst="rect">
            <a:avLst/>
          </a:prstGeom>
        </p:spPr>
      </p:pic>
      <p:pic>
        <p:nvPicPr>
          <p:cNvPr id="32" name="Picture 31">
            <a:extLst>
              <a:ext uri="{FF2B5EF4-FFF2-40B4-BE49-F238E27FC236}">
                <a16:creationId xmlns:a16="http://schemas.microsoft.com/office/drawing/2014/main" id="{C8DC07EA-D01C-DEDC-FCDD-9E9C3A0461A4}"/>
              </a:ext>
            </a:extLst>
          </p:cNvPr>
          <p:cNvPicPr>
            <a:picLocks noChangeAspect="1"/>
          </p:cNvPicPr>
          <p:nvPr/>
        </p:nvPicPr>
        <p:blipFill>
          <a:blip r:embed="rId4"/>
          <a:stretch>
            <a:fillRect/>
          </a:stretch>
        </p:blipFill>
        <p:spPr>
          <a:xfrm>
            <a:off x="1301443" y="4683130"/>
            <a:ext cx="3810047" cy="1197830"/>
          </a:xfrm>
          <a:prstGeom prst="rect">
            <a:avLst/>
          </a:prstGeom>
        </p:spPr>
      </p:pic>
      <p:sp>
        <p:nvSpPr>
          <p:cNvPr id="33" name="Shape 8">
            <a:extLst>
              <a:ext uri="{FF2B5EF4-FFF2-40B4-BE49-F238E27FC236}">
                <a16:creationId xmlns:a16="http://schemas.microsoft.com/office/drawing/2014/main" id="{C7C8E7F9-9BFE-F556-BF69-7161E0637FCE}"/>
              </a:ext>
            </a:extLst>
          </p:cNvPr>
          <p:cNvSpPr/>
          <p:nvPr/>
        </p:nvSpPr>
        <p:spPr>
          <a:xfrm>
            <a:off x="548641" y="4197242"/>
            <a:ext cx="5446746" cy="2370773"/>
          </a:xfrm>
          <a:prstGeom prst="roundRect">
            <a:avLst/>
          </a:prstGeom>
          <a:noFill/>
          <a:ln w="12700">
            <a:solidFill>
              <a:srgbClr val="D9D9D9"/>
            </a:solidFill>
            <a:prstDash val="solid"/>
          </a:ln>
        </p:spPr>
      </p:sp>
    </p:spTree>
    <p:extLst>
      <p:ext uri="{BB962C8B-B14F-4D97-AF65-F5344CB8AC3E}">
        <p14:creationId xmlns:p14="http://schemas.microsoft.com/office/powerpoint/2010/main" val="2369584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B81120D-8762-B4C1-CC8C-055524FB4624}"/>
              </a:ext>
            </a:extLst>
          </p:cNvPr>
          <p:cNvSpPr/>
          <p:nvPr/>
        </p:nvSpPr>
        <p:spPr>
          <a:xfrm>
            <a:off x="548640" y="274320"/>
            <a:ext cx="11064240" cy="54864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2. STS-b Dataset - Results and Testing</a:t>
            </a:r>
            <a:endParaRPr lang="en-US" sz="3400" dirty="0"/>
          </a:p>
        </p:txBody>
      </p:sp>
      <p:sp>
        <p:nvSpPr>
          <p:cNvPr id="3" name="Text 2">
            <a:extLst>
              <a:ext uri="{FF2B5EF4-FFF2-40B4-BE49-F238E27FC236}">
                <a16:creationId xmlns:a16="http://schemas.microsoft.com/office/drawing/2014/main" id="{9E593EED-DC8F-4267-B576-273F9D74ACF4}"/>
              </a:ext>
            </a:extLst>
          </p:cNvPr>
          <p:cNvSpPr/>
          <p:nvPr/>
        </p:nvSpPr>
        <p:spPr>
          <a:xfrm>
            <a:off x="417547" y="905329"/>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Results and Testing</a:t>
            </a:r>
            <a:endParaRPr lang="en-US" sz="1600" dirty="0"/>
          </a:p>
        </p:txBody>
      </p:sp>
      <p:sp>
        <p:nvSpPr>
          <p:cNvPr id="4" name="Shape 3">
            <a:extLst>
              <a:ext uri="{FF2B5EF4-FFF2-40B4-BE49-F238E27FC236}">
                <a16:creationId xmlns:a16="http://schemas.microsoft.com/office/drawing/2014/main" id="{14AC389A-D43C-D2BB-5187-0EFC57C916AF}"/>
              </a:ext>
            </a:extLst>
          </p:cNvPr>
          <p:cNvSpPr/>
          <p:nvPr/>
        </p:nvSpPr>
        <p:spPr>
          <a:xfrm>
            <a:off x="417547" y="1216225"/>
            <a:ext cx="5577840" cy="0"/>
          </a:xfrm>
          <a:prstGeom prst="line">
            <a:avLst/>
          </a:prstGeom>
          <a:noFill/>
          <a:ln w="12700">
            <a:solidFill>
              <a:srgbClr val="CFCFCF"/>
            </a:solidFill>
            <a:prstDash val="solid"/>
          </a:ln>
        </p:spPr>
      </p:sp>
      <p:sp>
        <p:nvSpPr>
          <p:cNvPr id="5" name="Text 4">
            <a:extLst>
              <a:ext uri="{FF2B5EF4-FFF2-40B4-BE49-F238E27FC236}">
                <a16:creationId xmlns:a16="http://schemas.microsoft.com/office/drawing/2014/main" id="{5CFF6897-3A17-AA7F-4328-345709866AB1}"/>
              </a:ext>
            </a:extLst>
          </p:cNvPr>
          <p:cNvSpPr/>
          <p:nvPr/>
        </p:nvSpPr>
        <p:spPr>
          <a:xfrm>
            <a:off x="417547" y="1316810"/>
            <a:ext cx="5577840" cy="5356626"/>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High Performance Overall: Both models achieved strong correlation with human judgments, scoring around 0.89.</a:t>
            </a:r>
          </a:p>
          <a:p>
            <a:pPr marL="285750" indent="-285750">
              <a:buSzPct val="100000"/>
              <a:buFont typeface="Arial" panose="020B0604020202020204" pitchFamily="34" charset="0"/>
              <a:buChar char="•"/>
            </a:pPr>
            <a:r>
              <a:rPr lang="en-US" sz="1400" dirty="0" err="1">
                <a:solidFill>
                  <a:srgbClr val="222222"/>
                </a:solidFill>
                <a:ea typeface="Calibri" pitchFamily="34" charset="-122"/>
                <a:cs typeface="Calibri" pitchFamily="34" charset="-120"/>
              </a:rPr>
              <a:t>RoBERTa</a:t>
            </a:r>
            <a:r>
              <a:rPr lang="en-US" sz="1400" dirty="0">
                <a:solidFill>
                  <a:srgbClr val="222222"/>
                </a:solidFill>
                <a:ea typeface="Calibri" pitchFamily="34" charset="-122"/>
                <a:cs typeface="Calibri" pitchFamily="34" charset="-120"/>
              </a:rPr>
              <a:t>-base Results: Pearson Correlation: 0.8883, Spearman Correlation: 0.8822</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Electra-base Results: Pearson Correlation: 0.8963, Spearman Correlation: 0.8929</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Winner: google/</a:t>
            </a:r>
            <a:r>
              <a:rPr lang="en-US" sz="1400" dirty="0" err="1">
                <a:solidFill>
                  <a:srgbClr val="222222"/>
                </a:solidFill>
                <a:ea typeface="Calibri" pitchFamily="34" charset="-122"/>
                <a:cs typeface="Calibri" pitchFamily="34" charset="-120"/>
              </a:rPr>
              <a:t>electra</a:t>
            </a:r>
            <a:r>
              <a:rPr lang="en-US" sz="1400" dirty="0">
                <a:solidFill>
                  <a:srgbClr val="222222"/>
                </a:solidFill>
                <a:ea typeface="Calibri" pitchFamily="34" charset="-122"/>
                <a:cs typeface="Calibri" pitchFamily="34" charset="-120"/>
              </a:rPr>
              <a:t>-base-discriminator slightly outperformed </a:t>
            </a:r>
            <a:r>
              <a:rPr lang="en-US" sz="1400" dirty="0" err="1">
                <a:solidFill>
                  <a:srgbClr val="222222"/>
                </a:solidFill>
                <a:ea typeface="Calibri" pitchFamily="34" charset="-122"/>
                <a:cs typeface="Calibri" pitchFamily="34" charset="-120"/>
              </a:rPr>
              <a:t>roberta</a:t>
            </a:r>
            <a:r>
              <a:rPr lang="en-US" sz="1400" dirty="0">
                <a:solidFill>
                  <a:srgbClr val="222222"/>
                </a:solidFill>
                <a:ea typeface="Calibri" pitchFamily="34" charset="-122"/>
                <a:cs typeface="Calibri" pitchFamily="34" charset="-120"/>
              </a:rPr>
              <a:t>-base on both metrics, showing a marginally better alignment with the ground truth labels.</a:t>
            </a:r>
          </a:p>
          <a:p>
            <a:pPr marL="285750" indent="-285750">
              <a:buSzPct val="100000"/>
              <a:buFont typeface="Arial" panose="020B0604020202020204" pitchFamily="34" charset="0"/>
              <a:buChar char="•"/>
            </a:pPr>
            <a:r>
              <a:rPr lang="en-US" sz="1400" dirty="0"/>
              <a:t>I tested the model on two specific pairs of sentences to verify its real-world performance.</a:t>
            </a:r>
          </a:p>
          <a:p>
            <a:pPr marL="285750" indent="-285750">
              <a:buSzPct val="100000"/>
              <a:buFont typeface="Arial" panose="020B0604020202020204" pitchFamily="34" charset="0"/>
              <a:buChar char="•"/>
            </a:pPr>
            <a:r>
              <a:rPr lang="en-US" sz="1400" dirty="0"/>
              <a:t>High Similarity Case: Input: "A man is playing guitar" vs. "A man is playing </a:t>
            </a:r>
            <a:r>
              <a:rPr lang="en-US" sz="1400" dirty="0" err="1"/>
              <a:t>music".Prediction</a:t>
            </a:r>
            <a:r>
              <a:rPr lang="en-US" sz="1400" dirty="0"/>
              <a:t>: 3.20 (on a 0-5 scale). Outcome: The model correctly identified a strong semantic relationship between the two sentences.</a:t>
            </a:r>
          </a:p>
          <a:p>
            <a:pPr marL="285750" indent="-285750">
              <a:buSzPct val="100000"/>
              <a:buFont typeface="Arial" panose="020B0604020202020204" pitchFamily="34" charset="0"/>
              <a:buChar char="•"/>
            </a:pPr>
            <a:r>
              <a:rPr lang="en-US" sz="1400" dirty="0"/>
              <a:t>Low Similarity Case: Input: "A man is playing guitar" vs. "The stock market closed higher today". Prediction: 0.16. Outcome: The model correctly assigned a near-zero score to completely unrelated topics.</a:t>
            </a:r>
          </a:p>
          <a:p>
            <a:pPr marL="285750" indent="-285750">
              <a:buSzPct val="100000"/>
              <a:buFont typeface="Arial" panose="020B0604020202020204" pitchFamily="34" charset="0"/>
              <a:buChar char="•"/>
            </a:pPr>
            <a:r>
              <a:rPr lang="en-US" sz="1400" dirty="0"/>
              <a:t>Conclusion: The model successfully distinguishes between relevant and irrelevant context, validating its ability to capture semantic meaning beyond just keyword matching</a:t>
            </a:r>
          </a:p>
        </p:txBody>
      </p:sp>
      <p:sp>
        <p:nvSpPr>
          <p:cNvPr id="6" name="Shape 8">
            <a:extLst>
              <a:ext uri="{FF2B5EF4-FFF2-40B4-BE49-F238E27FC236}">
                <a16:creationId xmlns:a16="http://schemas.microsoft.com/office/drawing/2014/main" id="{8A94542D-0496-2AAA-CA62-DA21FDFBCC19}"/>
              </a:ext>
            </a:extLst>
          </p:cNvPr>
          <p:cNvSpPr/>
          <p:nvPr/>
        </p:nvSpPr>
        <p:spPr>
          <a:xfrm>
            <a:off x="6196614" y="847025"/>
            <a:ext cx="5690586" cy="5826411"/>
          </a:xfrm>
          <a:prstGeom prst="roundRect">
            <a:avLst/>
          </a:prstGeom>
          <a:solidFill>
            <a:srgbClr val="FFFFFF"/>
          </a:solidFill>
          <a:ln w="12700">
            <a:solidFill>
              <a:srgbClr val="D9D9D9"/>
            </a:solidFill>
            <a:prstDash val="solid"/>
          </a:ln>
        </p:spPr>
      </p:sp>
      <p:pic>
        <p:nvPicPr>
          <p:cNvPr id="11" name="Picture 10">
            <a:extLst>
              <a:ext uri="{FF2B5EF4-FFF2-40B4-BE49-F238E27FC236}">
                <a16:creationId xmlns:a16="http://schemas.microsoft.com/office/drawing/2014/main" id="{1C193ABC-70C4-AF09-FB4F-E0BFDDDC5DEA}"/>
              </a:ext>
            </a:extLst>
          </p:cNvPr>
          <p:cNvPicPr>
            <a:picLocks noChangeAspect="1"/>
          </p:cNvPicPr>
          <p:nvPr/>
        </p:nvPicPr>
        <p:blipFill>
          <a:blip r:embed="rId2"/>
          <a:stretch>
            <a:fillRect/>
          </a:stretch>
        </p:blipFill>
        <p:spPr>
          <a:xfrm>
            <a:off x="6957698" y="1065349"/>
            <a:ext cx="4030170" cy="1778820"/>
          </a:xfrm>
          <a:prstGeom prst="rect">
            <a:avLst/>
          </a:prstGeom>
        </p:spPr>
      </p:pic>
      <p:pic>
        <p:nvPicPr>
          <p:cNvPr id="12" name="Picture 11">
            <a:extLst>
              <a:ext uri="{FF2B5EF4-FFF2-40B4-BE49-F238E27FC236}">
                <a16:creationId xmlns:a16="http://schemas.microsoft.com/office/drawing/2014/main" id="{CF0DE1CB-3412-F4C8-52B9-D00FD06CCEC1}"/>
              </a:ext>
            </a:extLst>
          </p:cNvPr>
          <p:cNvPicPr>
            <a:picLocks noChangeAspect="1"/>
          </p:cNvPicPr>
          <p:nvPr/>
        </p:nvPicPr>
        <p:blipFill>
          <a:blip r:embed="rId3"/>
          <a:stretch>
            <a:fillRect/>
          </a:stretch>
        </p:blipFill>
        <p:spPr>
          <a:xfrm>
            <a:off x="7002846" y="3015397"/>
            <a:ext cx="3985022" cy="1758550"/>
          </a:xfrm>
          <a:prstGeom prst="rect">
            <a:avLst/>
          </a:prstGeom>
        </p:spPr>
      </p:pic>
      <p:pic>
        <p:nvPicPr>
          <p:cNvPr id="14" name="Picture 13">
            <a:extLst>
              <a:ext uri="{FF2B5EF4-FFF2-40B4-BE49-F238E27FC236}">
                <a16:creationId xmlns:a16="http://schemas.microsoft.com/office/drawing/2014/main" id="{E078F6BE-C6FE-E429-E253-29EC0BA4305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838923" y="5036606"/>
            <a:ext cx="4276528" cy="1210338"/>
          </a:xfrm>
          <a:prstGeom prst="rect">
            <a:avLst/>
          </a:prstGeom>
          <a:noFill/>
          <a:ln>
            <a:noFill/>
          </a:ln>
        </p:spPr>
      </p:pic>
    </p:spTree>
    <p:extLst>
      <p:ext uri="{BB962C8B-B14F-4D97-AF65-F5344CB8AC3E}">
        <p14:creationId xmlns:p14="http://schemas.microsoft.com/office/powerpoint/2010/main" val="1248371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CC9ED81-D337-AE20-3FED-57702BC9E567}"/>
              </a:ext>
            </a:extLst>
          </p:cNvPr>
          <p:cNvSpPr/>
          <p:nvPr/>
        </p:nvSpPr>
        <p:spPr>
          <a:xfrm>
            <a:off x="548640" y="274320"/>
            <a:ext cx="11064240" cy="54864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4. Preference Alignment Dataset</a:t>
            </a:r>
            <a:endParaRPr lang="en-US" sz="3400" dirty="0"/>
          </a:p>
        </p:txBody>
      </p:sp>
      <p:sp>
        <p:nvSpPr>
          <p:cNvPr id="3" name="Text 2">
            <a:extLst>
              <a:ext uri="{FF2B5EF4-FFF2-40B4-BE49-F238E27FC236}">
                <a16:creationId xmlns:a16="http://schemas.microsoft.com/office/drawing/2014/main" id="{99BC02BB-1712-7BFE-CACD-5BA592C7290C}"/>
              </a:ext>
            </a:extLst>
          </p:cNvPr>
          <p:cNvSpPr/>
          <p:nvPr/>
        </p:nvSpPr>
        <p:spPr>
          <a:xfrm>
            <a:off x="417547" y="905329"/>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Ramsay Dataset</a:t>
            </a:r>
            <a:endParaRPr lang="en-US" sz="1600" dirty="0"/>
          </a:p>
        </p:txBody>
      </p:sp>
      <p:sp>
        <p:nvSpPr>
          <p:cNvPr id="4" name="Shape 3">
            <a:extLst>
              <a:ext uri="{FF2B5EF4-FFF2-40B4-BE49-F238E27FC236}">
                <a16:creationId xmlns:a16="http://schemas.microsoft.com/office/drawing/2014/main" id="{B8A27C85-81D9-07EB-0F4D-DD0CAE97CE6E}"/>
              </a:ext>
            </a:extLst>
          </p:cNvPr>
          <p:cNvSpPr/>
          <p:nvPr/>
        </p:nvSpPr>
        <p:spPr>
          <a:xfrm>
            <a:off x="417547" y="1216224"/>
            <a:ext cx="11451606" cy="91513"/>
          </a:xfrm>
          <a:prstGeom prst="line">
            <a:avLst/>
          </a:prstGeom>
          <a:noFill/>
          <a:ln w="12700">
            <a:solidFill>
              <a:srgbClr val="CFCFCF"/>
            </a:solidFill>
            <a:prstDash val="solid"/>
          </a:ln>
        </p:spPr>
      </p:sp>
      <p:sp>
        <p:nvSpPr>
          <p:cNvPr id="5" name="Text 4">
            <a:extLst>
              <a:ext uri="{FF2B5EF4-FFF2-40B4-BE49-F238E27FC236}">
                <a16:creationId xmlns:a16="http://schemas.microsoft.com/office/drawing/2014/main" id="{28DC6D2F-3C00-E495-78CA-16E9365FDBE3}"/>
              </a:ext>
            </a:extLst>
          </p:cNvPr>
          <p:cNvSpPr/>
          <p:nvPr/>
        </p:nvSpPr>
        <p:spPr>
          <a:xfrm>
            <a:off x="417547" y="1316810"/>
            <a:ext cx="11379416" cy="1709132"/>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In order to create the answers for this request, which was to "create a dataset containing 100 examples," I used a variety of LLMs as sources before selecting the final set for diversity. In particular, I used ChatGPT, Gemini, DeepSeek, and Claude to create Q/A pairs. In order to keep the entire dataset at 100 examples without repetition, I chose 20 samples from each model (a total of 80) and then created the remaining 20 by curating, rewriting, and combining styles.</a:t>
            </a:r>
          </a:p>
        </p:txBody>
      </p:sp>
      <p:pic>
        <p:nvPicPr>
          <p:cNvPr id="10" name="Picture 9">
            <a:extLst>
              <a:ext uri="{FF2B5EF4-FFF2-40B4-BE49-F238E27FC236}">
                <a16:creationId xmlns:a16="http://schemas.microsoft.com/office/drawing/2014/main" id="{6C554D6D-CBFE-0951-8F42-62BF1CA095B3}"/>
              </a:ext>
            </a:extLst>
          </p:cNvPr>
          <p:cNvPicPr>
            <a:picLocks noChangeAspect="1"/>
          </p:cNvPicPr>
          <p:nvPr/>
        </p:nvPicPr>
        <p:blipFill>
          <a:blip r:embed="rId2"/>
          <a:stretch>
            <a:fillRect/>
          </a:stretch>
        </p:blipFill>
        <p:spPr>
          <a:xfrm>
            <a:off x="753202" y="3136196"/>
            <a:ext cx="10780295" cy="1911438"/>
          </a:xfrm>
          <a:prstGeom prst="rect">
            <a:avLst/>
          </a:prstGeom>
        </p:spPr>
      </p:pic>
    </p:spTree>
    <p:extLst>
      <p:ext uri="{BB962C8B-B14F-4D97-AF65-F5344CB8AC3E}">
        <p14:creationId xmlns:p14="http://schemas.microsoft.com/office/powerpoint/2010/main" val="2198181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5F27E9A-5EC2-3A0A-A4CF-C3FFAADDF862}"/>
              </a:ext>
            </a:extLst>
          </p:cNvPr>
          <p:cNvSpPr/>
          <p:nvPr/>
        </p:nvSpPr>
        <p:spPr>
          <a:xfrm>
            <a:off x="548640" y="274320"/>
            <a:ext cx="11064240" cy="54864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5. DPO Preference Alignment</a:t>
            </a:r>
            <a:endParaRPr lang="en-US" sz="3400" dirty="0"/>
          </a:p>
        </p:txBody>
      </p:sp>
      <p:sp>
        <p:nvSpPr>
          <p:cNvPr id="3" name="Text 2">
            <a:extLst>
              <a:ext uri="{FF2B5EF4-FFF2-40B4-BE49-F238E27FC236}">
                <a16:creationId xmlns:a16="http://schemas.microsoft.com/office/drawing/2014/main" id="{E77C6E00-D85A-3220-CE7C-9AFAE952C5A8}"/>
              </a:ext>
            </a:extLst>
          </p:cNvPr>
          <p:cNvSpPr/>
          <p:nvPr/>
        </p:nvSpPr>
        <p:spPr>
          <a:xfrm>
            <a:off x="417547" y="905329"/>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Configurations</a:t>
            </a:r>
            <a:endParaRPr lang="en-US" sz="1600" dirty="0"/>
          </a:p>
        </p:txBody>
      </p:sp>
      <p:sp>
        <p:nvSpPr>
          <p:cNvPr id="4" name="Shape 3">
            <a:extLst>
              <a:ext uri="{FF2B5EF4-FFF2-40B4-BE49-F238E27FC236}">
                <a16:creationId xmlns:a16="http://schemas.microsoft.com/office/drawing/2014/main" id="{4F1AB20D-F24F-90D2-41F9-945D5ACA2689}"/>
              </a:ext>
            </a:extLst>
          </p:cNvPr>
          <p:cNvSpPr/>
          <p:nvPr/>
        </p:nvSpPr>
        <p:spPr>
          <a:xfrm>
            <a:off x="417547" y="1216225"/>
            <a:ext cx="5577840" cy="0"/>
          </a:xfrm>
          <a:prstGeom prst="line">
            <a:avLst/>
          </a:prstGeom>
          <a:noFill/>
          <a:ln w="12700">
            <a:solidFill>
              <a:srgbClr val="CFCFCF"/>
            </a:solidFill>
            <a:prstDash val="solid"/>
          </a:ln>
        </p:spPr>
      </p:sp>
      <p:sp>
        <p:nvSpPr>
          <p:cNvPr id="5" name="Text 4">
            <a:extLst>
              <a:ext uri="{FF2B5EF4-FFF2-40B4-BE49-F238E27FC236}">
                <a16:creationId xmlns:a16="http://schemas.microsoft.com/office/drawing/2014/main" id="{CB181CD3-FFDA-C729-6F20-D53E5D650749}"/>
              </a:ext>
            </a:extLst>
          </p:cNvPr>
          <p:cNvSpPr/>
          <p:nvPr/>
        </p:nvSpPr>
        <p:spPr>
          <a:xfrm>
            <a:off x="417547" y="1316810"/>
            <a:ext cx="5577840" cy="5356626"/>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Model Choice (Llama 3.2 1B 4-bit): Selected for efficiency. The 1B parameter size combined with 4-bit quantization allows for extremely fast training on limited hardware (</a:t>
            </a:r>
            <a:r>
              <a:rPr lang="en-US" sz="1400" dirty="0" err="1">
                <a:solidFill>
                  <a:srgbClr val="222222"/>
                </a:solidFill>
                <a:ea typeface="Calibri" pitchFamily="34" charset="-122"/>
                <a:cs typeface="Calibri" pitchFamily="34" charset="-120"/>
              </a:rPr>
              <a:t>Colab</a:t>
            </a:r>
            <a:r>
              <a:rPr lang="en-US" sz="1400" dirty="0">
                <a:solidFill>
                  <a:srgbClr val="222222"/>
                </a:solidFill>
                <a:ea typeface="Calibri" pitchFamily="34" charset="-122"/>
                <a:cs typeface="Calibri" pitchFamily="34" charset="-120"/>
              </a:rPr>
              <a:t> T4/L4) while maintaining decent reasoning capabilities. Using the Instruct version provides a strong baseline for dialogue structure, allowing DPO to focus purely on style transfer rather than learning basic syntax.</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Method (DPO): This was the suggested</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Learning Rate (5e-6): Set very low intentionally. DPO is sensitive to large updates</a:t>
            </a:r>
          </a:p>
          <a:p>
            <a:pPr marL="285750" indent="-285750">
              <a:buSzPct val="100000"/>
              <a:buFont typeface="Arial" panose="020B0604020202020204" pitchFamily="34" charset="0"/>
              <a:buChar char="•"/>
            </a:pPr>
            <a:r>
              <a:rPr lang="en-US" sz="1400" dirty="0" err="1">
                <a:solidFill>
                  <a:srgbClr val="222222"/>
                </a:solidFill>
                <a:ea typeface="Calibri" pitchFamily="34" charset="-122"/>
                <a:cs typeface="Calibri" pitchFamily="34" charset="-120"/>
              </a:rPr>
              <a:t>LoRA</a:t>
            </a:r>
            <a:r>
              <a:rPr lang="en-US" sz="1400" dirty="0">
                <a:solidFill>
                  <a:srgbClr val="222222"/>
                </a:solidFill>
                <a:ea typeface="Calibri" pitchFamily="34" charset="-122"/>
                <a:cs typeface="Calibri" pitchFamily="34" charset="-120"/>
              </a:rPr>
              <a:t> Rank (r=32): I chose a normal rank to capture the complex style of the "Ramsay Persona" (vocabulary, punctuation, aggressive tone) without the computational cost of full fine-tuning.</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Dataset Size (Train/Test): 500/100 as suggested</a:t>
            </a:r>
          </a:p>
          <a:p>
            <a:pPr marL="285750" indent="-285750">
              <a:buSzPct val="100000"/>
              <a:buFont typeface="Arial" panose="020B0604020202020204" pitchFamily="34" charset="0"/>
              <a:buChar char="•"/>
            </a:pPr>
            <a:r>
              <a:rPr lang="en-US" sz="1400" dirty="0" err="1">
                <a:solidFill>
                  <a:srgbClr val="222222"/>
                </a:solidFill>
                <a:ea typeface="Calibri" pitchFamily="34" charset="-122"/>
                <a:cs typeface="Calibri" pitchFamily="34" charset="-120"/>
              </a:rPr>
              <a:t>ramsay</a:t>
            </a:r>
            <a:r>
              <a:rPr lang="en-US" sz="1400" dirty="0">
                <a:solidFill>
                  <a:srgbClr val="222222"/>
                </a:solidFill>
                <a:ea typeface="Calibri" pitchFamily="34" charset="-122"/>
                <a:cs typeface="Calibri" pitchFamily="34" charset="-120"/>
              </a:rPr>
              <a:t> → chosen: I map the Ramsay column to "Chosen" because I want to maximize the likelihood of this specific style (aggressive, capitalized, metaphorical).</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polite → rejected: Standard LLMs are trained to be helpful and polite by default. By mapping the polite response to "Rejected", I provide a negative constraint.</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DPO mathematically pushes the model away from this "Rejected" distribution."</a:t>
            </a:r>
          </a:p>
        </p:txBody>
      </p:sp>
      <p:sp>
        <p:nvSpPr>
          <p:cNvPr id="6" name="Shape 8">
            <a:extLst>
              <a:ext uri="{FF2B5EF4-FFF2-40B4-BE49-F238E27FC236}">
                <a16:creationId xmlns:a16="http://schemas.microsoft.com/office/drawing/2014/main" id="{988AEDE1-FF71-6174-988B-A73B977EE83C}"/>
              </a:ext>
            </a:extLst>
          </p:cNvPr>
          <p:cNvSpPr/>
          <p:nvPr/>
        </p:nvSpPr>
        <p:spPr>
          <a:xfrm>
            <a:off x="6196614" y="847025"/>
            <a:ext cx="5690586" cy="5826411"/>
          </a:xfrm>
          <a:prstGeom prst="roundRect">
            <a:avLst/>
          </a:prstGeom>
          <a:solidFill>
            <a:srgbClr val="FFFFFF"/>
          </a:solidFill>
          <a:ln w="12700">
            <a:solidFill>
              <a:srgbClr val="D9D9D9"/>
            </a:solidFill>
            <a:prstDash val="solid"/>
          </a:ln>
        </p:spPr>
      </p:sp>
      <p:pic>
        <p:nvPicPr>
          <p:cNvPr id="11" name="Picture 10">
            <a:extLst>
              <a:ext uri="{FF2B5EF4-FFF2-40B4-BE49-F238E27FC236}">
                <a16:creationId xmlns:a16="http://schemas.microsoft.com/office/drawing/2014/main" id="{1860A29A-7A87-3384-06E1-7C10B8AE913E}"/>
              </a:ext>
            </a:extLst>
          </p:cNvPr>
          <p:cNvPicPr>
            <a:picLocks noChangeAspect="1"/>
          </p:cNvPicPr>
          <p:nvPr/>
        </p:nvPicPr>
        <p:blipFill>
          <a:blip r:embed="rId2"/>
          <a:stretch>
            <a:fillRect/>
          </a:stretch>
        </p:blipFill>
        <p:spPr>
          <a:xfrm>
            <a:off x="7353380" y="1155567"/>
            <a:ext cx="3377054" cy="2641579"/>
          </a:xfrm>
          <a:prstGeom prst="rect">
            <a:avLst/>
          </a:prstGeom>
        </p:spPr>
      </p:pic>
      <p:pic>
        <p:nvPicPr>
          <p:cNvPr id="13" name="Picture 12">
            <a:extLst>
              <a:ext uri="{FF2B5EF4-FFF2-40B4-BE49-F238E27FC236}">
                <a16:creationId xmlns:a16="http://schemas.microsoft.com/office/drawing/2014/main" id="{467A7EBA-797E-2201-FC44-943763684ECA}"/>
              </a:ext>
            </a:extLst>
          </p:cNvPr>
          <p:cNvPicPr>
            <a:picLocks noChangeAspect="1"/>
          </p:cNvPicPr>
          <p:nvPr/>
        </p:nvPicPr>
        <p:blipFill>
          <a:blip r:embed="rId3"/>
          <a:stretch>
            <a:fillRect/>
          </a:stretch>
        </p:blipFill>
        <p:spPr>
          <a:xfrm>
            <a:off x="7730442" y="4550857"/>
            <a:ext cx="3465140" cy="1027861"/>
          </a:xfrm>
          <a:prstGeom prst="rect">
            <a:avLst/>
          </a:prstGeom>
        </p:spPr>
      </p:pic>
    </p:spTree>
    <p:extLst>
      <p:ext uri="{BB962C8B-B14F-4D97-AF65-F5344CB8AC3E}">
        <p14:creationId xmlns:p14="http://schemas.microsoft.com/office/powerpoint/2010/main" val="4058017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D6E04C5-07F8-F9F4-DFD6-77B9790F70C6}"/>
              </a:ext>
            </a:extLst>
          </p:cNvPr>
          <p:cNvSpPr/>
          <p:nvPr/>
        </p:nvSpPr>
        <p:spPr>
          <a:xfrm>
            <a:off x="548640" y="274320"/>
            <a:ext cx="11064240" cy="54864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5. DPO Preference Alignment - Results</a:t>
            </a:r>
            <a:endParaRPr lang="en-US" sz="3400" dirty="0"/>
          </a:p>
        </p:txBody>
      </p:sp>
      <p:sp>
        <p:nvSpPr>
          <p:cNvPr id="3" name="Text 2">
            <a:extLst>
              <a:ext uri="{FF2B5EF4-FFF2-40B4-BE49-F238E27FC236}">
                <a16:creationId xmlns:a16="http://schemas.microsoft.com/office/drawing/2014/main" id="{473261BD-67C8-BF37-C16E-32CFB7582459}"/>
              </a:ext>
            </a:extLst>
          </p:cNvPr>
          <p:cNvSpPr/>
          <p:nvPr/>
        </p:nvSpPr>
        <p:spPr>
          <a:xfrm>
            <a:off x="417547" y="905329"/>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Results and Testing (Average)</a:t>
            </a:r>
            <a:endParaRPr lang="en-US" sz="1600" dirty="0"/>
          </a:p>
        </p:txBody>
      </p:sp>
      <p:sp>
        <p:nvSpPr>
          <p:cNvPr id="4" name="Shape 3">
            <a:extLst>
              <a:ext uri="{FF2B5EF4-FFF2-40B4-BE49-F238E27FC236}">
                <a16:creationId xmlns:a16="http://schemas.microsoft.com/office/drawing/2014/main" id="{5EF72DE9-FE2C-8B71-9683-92E80BD76ED3}"/>
              </a:ext>
            </a:extLst>
          </p:cNvPr>
          <p:cNvSpPr/>
          <p:nvPr/>
        </p:nvSpPr>
        <p:spPr>
          <a:xfrm>
            <a:off x="417547" y="1216225"/>
            <a:ext cx="5577840" cy="0"/>
          </a:xfrm>
          <a:prstGeom prst="line">
            <a:avLst/>
          </a:prstGeom>
          <a:noFill/>
          <a:ln w="12700">
            <a:solidFill>
              <a:srgbClr val="CFCFCF"/>
            </a:solidFill>
            <a:prstDash val="solid"/>
          </a:ln>
        </p:spPr>
      </p:sp>
      <p:sp>
        <p:nvSpPr>
          <p:cNvPr id="5" name="Text 4">
            <a:extLst>
              <a:ext uri="{FF2B5EF4-FFF2-40B4-BE49-F238E27FC236}">
                <a16:creationId xmlns:a16="http://schemas.microsoft.com/office/drawing/2014/main" id="{6D26351F-171D-F449-9587-8FD624F77E0F}"/>
              </a:ext>
            </a:extLst>
          </p:cNvPr>
          <p:cNvSpPr/>
          <p:nvPr/>
        </p:nvSpPr>
        <p:spPr>
          <a:xfrm>
            <a:off x="417547" y="1316810"/>
            <a:ext cx="5577840" cy="5356626"/>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Training Loss (0.39): The low training loss indicates successful convergence. The model effectively learned the patterns in the preference dataset without overfitting or collapsing (which often manifests as a loss that doesn't decrease).</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Judge Discrepancy (The "Judge Bias"): A massive variance in automated evaluation scores. Qwen 2.5 1.5B gave a perfect 5.0, being too soft due to its smaller size.</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Qwen 2.5 7B (1.98) and Electra (2.02) were much harsher. This suggests that while the model successfully adopted the persona, the judges may have penalized the radical shift in tone, mistaking the insults and metaphors for "unrelated information" despite the instructions to ignore style.</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Llama 3.1 8B (3.23) likely provides the most realistic assessment: the answers are "related" (Score 3) but the aggressive style obscures the direct technical meaning slightly compared to the polite reference.</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Style vs. Substance Trade-off: The model successfully injected signature catchphrases ("You donkey!", "Raw!") and capitalization usage. The lower semantic scores reflect a known trade-off in DPO: maximizing the style reward (sounding like Ramsay) often comes at a slight cost to semantic precision.</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Personally, after checking the CSV with the newly created column </a:t>
            </a:r>
            <a:r>
              <a:rPr lang="en-US" sz="1400" dirty="0" err="1">
                <a:solidFill>
                  <a:srgbClr val="222222"/>
                </a:solidFill>
                <a:ea typeface="Calibri" pitchFamily="34" charset="-122"/>
                <a:cs typeface="Calibri" pitchFamily="34" charset="-120"/>
              </a:rPr>
              <a:t>model_output</a:t>
            </a:r>
            <a:r>
              <a:rPr lang="en-US" sz="1400" dirty="0">
                <a:solidFill>
                  <a:srgbClr val="222222"/>
                </a:solidFill>
                <a:ea typeface="Calibri" pitchFamily="34" charset="-122"/>
                <a:cs typeface="Calibri" pitchFamily="34" charset="-120"/>
              </a:rPr>
              <a:t> and comparing the similarities with the Ramsay answer, I think that the best model is Llama 3.1 8B. </a:t>
            </a:r>
          </a:p>
        </p:txBody>
      </p:sp>
      <p:sp>
        <p:nvSpPr>
          <p:cNvPr id="6" name="Shape 8">
            <a:extLst>
              <a:ext uri="{FF2B5EF4-FFF2-40B4-BE49-F238E27FC236}">
                <a16:creationId xmlns:a16="http://schemas.microsoft.com/office/drawing/2014/main" id="{1B480A0A-9BFF-0F7F-BB19-D00329917AA6}"/>
              </a:ext>
            </a:extLst>
          </p:cNvPr>
          <p:cNvSpPr/>
          <p:nvPr/>
        </p:nvSpPr>
        <p:spPr>
          <a:xfrm>
            <a:off x="6196614" y="847025"/>
            <a:ext cx="5690586" cy="5826411"/>
          </a:xfrm>
          <a:prstGeom prst="roundRect">
            <a:avLst/>
          </a:prstGeom>
          <a:solidFill>
            <a:srgbClr val="FFFFFF"/>
          </a:solidFill>
          <a:ln w="12700">
            <a:solidFill>
              <a:srgbClr val="D9D9D9"/>
            </a:solidFill>
            <a:prstDash val="solid"/>
          </a:ln>
        </p:spPr>
      </p:sp>
      <p:pic>
        <p:nvPicPr>
          <p:cNvPr id="10" name="Picture 9">
            <a:extLst>
              <a:ext uri="{FF2B5EF4-FFF2-40B4-BE49-F238E27FC236}">
                <a16:creationId xmlns:a16="http://schemas.microsoft.com/office/drawing/2014/main" id="{93C0662D-6871-215C-2150-8B91544D237C}"/>
              </a:ext>
            </a:extLst>
          </p:cNvPr>
          <p:cNvPicPr>
            <a:picLocks noChangeAspect="1"/>
          </p:cNvPicPr>
          <p:nvPr/>
        </p:nvPicPr>
        <p:blipFill>
          <a:blip r:embed="rId2"/>
          <a:stretch>
            <a:fillRect/>
          </a:stretch>
        </p:blipFill>
        <p:spPr>
          <a:xfrm>
            <a:off x="6412297" y="2457390"/>
            <a:ext cx="5259219" cy="2605680"/>
          </a:xfrm>
          <a:prstGeom prst="rect">
            <a:avLst/>
          </a:prstGeom>
        </p:spPr>
      </p:pic>
    </p:spTree>
    <p:extLst>
      <p:ext uri="{BB962C8B-B14F-4D97-AF65-F5344CB8AC3E}">
        <p14:creationId xmlns:p14="http://schemas.microsoft.com/office/powerpoint/2010/main" val="3607912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0DF5054-D3BE-FA8C-EF95-2FCD448E8782}"/>
              </a:ext>
            </a:extLst>
          </p:cNvPr>
          <p:cNvSpPr/>
          <p:nvPr/>
        </p:nvSpPr>
        <p:spPr>
          <a:xfrm>
            <a:off x="548640" y="274320"/>
            <a:ext cx="11064240" cy="54864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3. Custom RAG</a:t>
            </a:r>
            <a:endParaRPr lang="en-US" sz="3400" dirty="0"/>
          </a:p>
        </p:txBody>
      </p:sp>
      <p:sp>
        <p:nvSpPr>
          <p:cNvPr id="3" name="Text 2">
            <a:extLst>
              <a:ext uri="{FF2B5EF4-FFF2-40B4-BE49-F238E27FC236}">
                <a16:creationId xmlns:a16="http://schemas.microsoft.com/office/drawing/2014/main" id="{0310CD2B-A64E-EB39-EC8D-74277E147104}"/>
              </a:ext>
            </a:extLst>
          </p:cNvPr>
          <p:cNvSpPr/>
          <p:nvPr/>
        </p:nvSpPr>
        <p:spPr>
          <a:xfrm>
            <a:off x="417547" y="905329"/>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SLM from Hugging Face</a:t>
            </a:r>
            <a:endParaRPr lang="en-US" sz="1600" dirty="0"/>
          </a:p>
        </p:txBody>
      </p:sp>
      <p:sp>
        <p:nvSpPr>
          <p:cNvPr id="4" name="Shape 3">
            <a:extLst>
              <a:ext uri="{FF2B5EF4-FFF2-40B4-BE49-F238E27FC236}">
                <a16:creationId xmlns:a16="http://schemas.microsoft.com/office/drawing/2014/main" id="{890B7409-E0A5-006A-DF83-88CCC1DAD133}"/>
              </a:ext>
            </a:extLst>
          </p:cNvPr>
          <p:cNvSpPr/>
          <p:nvPr/>
        </p:nvSpPr>
        <p:spPr>
          <a:xfrm>
            <a:off x="417547" y="1216225"/>
            <a:ext cx="5577840" cy="0"/>
          </a:xfrm>
          <a:prstGeom prst="line">
            <a:avLst/>
          </a:prstGeom>
          <a:noFill/>
          <a:ln w="12700">
            <a:solidFill>
              <a:srgbClr val="CFCFCF"/>
            </a:solidFill>
            <a:prstDash val="solid"/>
          </a:ln>
        </p:spPr>
      </p:sp>
      <p:sp>
        <p:nvSpPr>
          <p:cNvPr id="5" name="Text 4">
            <a:extLst>
              <a:ext uri="{FF2B5EF4-FFF2-40B4-BE49-F238E27FC236}">
                <a16:creationId xmlns:a16="http://schemas.microsoft.com/office/drawing/2014/main" id="{1D3583DC-9B06-6032-F4F0-61B3D55CFA10}"/>
              </a:ext>
            </a:extLst>
          </p:cNvPr>
          <p:cNvSpPr/>
          <p:nvPr/>
        </p:nvSpPr>
        <p:spPr>
          <a:xfrm>
            <a:off x="417547" y="1316810"/>
            <a:ext cx="5577840" cy="5356626"/>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The Hugging Face SLM Model that was used is “</a:t>
            </a:r>
            <a:r>
              <a:rPr lang="en-US" sz="1400" dirty="0" err="1">
                <a:solidFill>
                  <a:srgbClr val="222222"/>
                </a:solidFill>
                <a:ea typeface="Calibri" pitchFamily="34" charset="-122"/>
                <a:cs typeface="Calibri" pitchFamily="34" charset="-120"/>
              </a:rPr>
              <a:t>unsloth</a:t>
            </a:r>
            <a:r>
              <a:rPr lang="en-US" sz="1400" dirty="0">
                <a:solidFill>
                  <a:srgbClr val="222222"/>
                </a:solidFill>
                <a:ea typeface="Calibri" pitchFamily="34" charset="-122"/>
                <a:cs typeface="Calibri" pitchFamily="34" charset="-120"/>
              </a:rPr>
              <a:t>/Llama-3.2-1B-Instruct-bnb-4bit”</a:t>
            </a:r>
          </a:p>
          <a:p>
            <a:pPr marL="285750" indent="-285750">
              <a:buSzPct val="100000"/>
              <a:buFont typeface="Arial" panose="020B0604020202020204" pitchFamily="34" charset="0"/>
              <a:buChar char="•"/>
            </a:pPr>
            <a:r>
              <a:rPr lang="en-US" sz="1400" dirty="0" err="1">
                <a:solidFill>
                  <a:srgbClr val="222222"/>
                </a:solidFill>
                <a:ea typeface="Calibri" pitchFamily="34" charset="-122"/>
                <a:cs typeface="Calibri" pitchFamily="34" charset="-120"/>
              </a:rPr>
              <a:t>FastLanguageModel.for_inference</a:t>
            </a:r>
            <a:r>
              <a:rPr lang="en-US" sz="1400" dirty="0">
                <a:solidFill>
                  <a:srgbClr val="222222"/>
                </a:solidFill>
                <a:ea typeface="Calibri" pitchFamily="34" charset="-122"/>
                <a:cs typeface="Calibri" pitchFamily="34" charset="-120"/>
              </a:rPr>
              <a:t>(</a:t>
            </a:r>
            <a:r>
              <a:rPr lang="en-US" sz="1400" dirty="0" err="1">
                <a:solidFill>
                  <a:srgbClr val="222222"/>
                </a:solidFill>
                <a:ea typeface="Calibri" pitchFamily="34" charset="-122"/>
                <a:cs typeface="Calibri" pitchFamily="34" charset="-120"/>
              </a:rPr>
              <a:t>modelparaphrase</a:t>
            </a:r>
            <a:r>
              <a:rPr lang="en-US" sz="1400" dirty="0">
                <a:solidFill>
                  <a:srgbClr val="222222"/>
                </a:solidFill>
                <a:ea typeface="Calibri" pitchFamily="34" charset="-122"/>
                <a:cs typeface="Calibri" pitchFamily="34" charset="-120"/>
              </a:rPr>
              <a:t>) puts the model into a mode optimized for faster generation and lower memory usage.</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I set up </a:t>
            </a:r>
            <a:r>
              <a:rPr lang="en-US" sz="1400" dirty="0" err="1">
                <a:solidFill>
                  <a:srgbClr val="222222"/>
                </a:solidFill>
                <a:ea typeface="Calibri" pitchFamily="34" charset="-122"/>
                <a:cs typeface="Calibri" pitchFamily="34" charset="-120"/>
              </a:rPr>
              <a:t>paraphrase_prompt</a:t>
            </a:r>
            <a:r>
              <a:rPr lang="en-US" sz="1400" dirty="0">
                <a:solidFill>
                  <a:srgbClr val="222222"/>
                </a:solidFill>
                <a:ea typeface="Calibri" pitchFamily="34" charset="-122"/>
                <a:cs typeface="Calibri" pitchFamily="34" charset="-120"/>
              </a:rPr>
              <a:t> with strict rules to ensure the model only rewrites the question (keeping the meaning) and does not answer it or add extra conversational filler.</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I loops 2 times (range(2)) to create two different paraphrased versions of the original question.</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I used </a:t>
            </a:r>
            <a:r>
              <a:rPr lang="en-US" sz="1400" dirty="0" err="1">
                <a:solidFill>
                  <a:srgbClr val="222222"/>
                </a:solidFill>
                <a:ea typeface="Calibri" pitchFamily="34" charset="-122"/>
                <a:cs typeface="Calibri" pitchFamily="34" charset="-120"/>
              </a:rPr>
              <a:t>tokenizer.apply_chat_template</a:t>
            </a:r>
            <a:r>
              <a:rPr lang="en-US" sz="1400" dirty="0">
                <a:solidFill>
                  <a:srgbClr val="222222"/>
                </a:solidFill>
                <a:ea typeface="Calibri" pitchFamily="34" charset="-122"/>
                <a:cs typeface="Calibri" pitchFamily="34" charset="-120"/>
              </a:rPr>
              <a:t> to structure the input as a conversation between a "System" (giving instructions) and a "User" (providing the prompt).</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Finally, I enabled randomness, sets </a:t>
            </a:r>
            <a:r>
              <a:rPr lang="en-US" sz="1400" dirty="0" err="1">
                <a:solidFill>
                  <a:srgbClr val="222222"/>
                </a:solidFill>
                <a:ea typeface="Calibri" pitchFamily="34" charset="-122"/>
                <a:cs typeface="Calibri" pitchFamily="34" charset="-120"/>
              </a:rPr>
              <a:t>do_sample</a:t>
            </a:r>
            <a:r>
              <a:rPr lang="en-US" sz="1400" dirty="0">
                <a:solidFill>
                  <a:srgbClr val="222222"/>
                </a:solidFill>
                <a:ea typeface="Calibri" pitchFamily="34" charset="-122"/>
                <a:cs typeface="Calibri" pitchFamily="34" charset="-120"/>
              </a:rPr>
              <a:t>=True, temperature=0.9, and </a:t>
            </a:r>
            <a:r>
              <a:rPr lang="en-US" sz="1400" dirty="0" err="1">
                <a:solidFill>
                  <a:srgbClr val="222222"/>
                </a:solidFill>
                <a:ea typeface="Calibri" pitchFamily="34" charset="-122"/>
                <a:cs typeface="Calibri" pitchFamily="34" charset="-120"/>
              </a:rPr>
              <a:t>top_p</a:t>
            </a:r>
            <a:r>
              <a:rPr lang="en-US" sz="1400" dirty="0">
                <a:solidFill>
                  <a:srgbClr val="222222"/>
                </a:solidFill>
                <a:ea typeface="Calibri" pitchFamily="34" charset="-122"/>
                <a:cs typeface="Calibri" pitchFamily="34" charset="-120"/>
              </a:rPr>
              <a:t>=0.9. This ensures the model doesn't just output the exact same most probable text every time, allowing for different phrasing in each iteration. (else all sentences started with “For crying out loud”)</a:t>
            </a:r>
          </a:p>
        </p:txBody>
      </p:sp>
      <p:sp>
        <p:nvSpPr>
          <p:cNvPr id="6" name="Shape 8">
            <a:extLst>
              <a:ext uri="{FF2B5EF4-FFF2-40B4-BE49-F238E27FC236}">
                <a16:creationId xmlns:a16="http://schemas.microsoft.com/office/drawing/2014/main" id="{28A3DEA1-8800-D7F8-1897-B9D135F5C26A}"/>
              </a:ext>
            </a:extLst>
          </p:cNvPr>
          <p:cNvSpPr/>
          <p:nvPr/>
        </p:nvSpPr>
        <p:spPr>
          <a:xfrm>
            <a:off x="6196614" y="847025"/>
            <a:ext cx="5690586" cy="5826411"/>
          </a:xfrm>
          <a:prstGeom prst="roundRect">
            <a:avLst/>
          </a:prstGeom>
          <a:solidFill>
            <a:srgbClr val="FFFFFF"/>
          </a:solidFill>
          <a:ln w="12700">
            <a:solidFill>
              <a:srgbClr val="D9D9D9"/>
            </a:solidFill>
            <a:prstDash val="solid"/>
          </a:ln>
        </p:spPr>
      </p:sp>
      <p:pic>
        <p:nvPicPr>
          <p:cNvPr id="9" name="Picture 8">
            <a:extLst>
              <a:ext uri="{FF2B5EF4-FFF2-40B4-BE49-F238E27FC236}">
                <a16:creationId xmlns:a16="http://schemas.microsoft.com/office/drawing/2014/main" id="{4A00B17F-4E7F-FEE7-3BB0-FBDD1BBFC842}"/>
              </a:ext>
            </a:extLst>
          </p:cNvPr>
          <p:cNvPicPr>
            <a:picLocks noChangeAspect="1"/>
          </p:cNvPicPr>
          <p:nvPr/>
        </p:nvPicPr>
        <p:blipFill>
          <a:blip r:embed="rId2"/>
          <a:stretch>
            <a:fillRect/>
          </a:stretch>
        </p:blipFill>
        <p:spPr>
          <a:xfrm>
            <a:off x="7176586" y="1594739"/>
            <a:ext cx="4054893" cy="4095308"/>
          </a:xfrm>
          <a:prstGeom prst="rect">
            <a:avLst/>
          </a:prstGeom>
        </p:spPr>
      </p:pic>
    </p:spTree>
    <p:extLst>
      <p:ext uri="{BB962C8B-B14F-4D97-AF65-F5344CB8AC3E}">
        <p14:creationId xmlns:p14="http://schemas.microsoft.com/office/powerpoint/2010/main" val="23625553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58523608-EC21-7B53-0A7D-9C23A1862AF6}"/>
              </a:ext>
            </a:extLst>
          </p:cNvPr>
          <p:cNvSpPr/>
          <p:nvPr/>
        </p:nvSpPr>
        <p:spPr>
          <a:xfrm>
            <a:off x="548640" y="274320"/>
            <a:ext cx="11064240" cy="548640"/>
          </a:xfrm>
          <a:prstGeom prst="rect">
            <a:avLst/>
          </a:prstGeom>
          <a:noFill/>
          <a:ln/>
        </p:spPr>
        <p:txBody>
          <a:bodyPr wrap="square" rtlCol="0" anchor="ctr"/>
          <a:lstStyle/>
          <a:p>
            <a:pPr marL="0" indent="0">
              <a:buNone/>
            </a:pPr>
            <a:r>
              <a:rPr lang="en-US" sz="3400" b="1" dirty="0">
                <a:solidFill>
                  <a:srgbClr val="000000"/>
                </a:solidFill>
                <a:latin typeface="Calibri" pitchFamily="34" charset="0"/>
                <a:ea typeface="Calibri" pitchFamily="34" charset="-122"/>
                <a:cs typeface="Calibri" pitchFamily="34" charset="-120"/>
              </a:rPr>
              <a:t>3. Custom RAG - Results</a:t>
            </a:r>
            <a:endParaRPr lang="en-US" sz="3400" dirty="0"/>
          </a:p>
        </p:txBody>
      </p:sp>
      <p:sp>
        <p:nvSpPr>
          <p:cNvPr id="5" name="Text 2">
            <a:extLst>
              <a:ext uri="{FF2B5EF4-FFF2-40B4-BE49-F238E27FC236}">
                <a16:creationId xmlns:a16="http://schemas.microsoft.com/office/drawing/2014/main" id="{971AC47E-40A1-6345-54AC-8C9D3EC9A223}"/>
              </a:ext>
            </a:extLst>
          </p:cNvPr>
          <p:cNvSpPr/>
          <p:nvPr/>
        </p:nvSpPr>
        <p:spPr>
          <a:xfrm>
            <a:off x="417547" y="905329"/>
            <a:ext cx="5577840" cy="320040"/>
          </a:xfrm>
          <a:prstGeom prst="rect">
            <a:avLst/>
          </a:prstGeom>
          <a:noFill/>
          <a:ln/>
        </p:spPr>
        <p:txBody>
          <a:bodyPr wrap="square" rtlCol="0" anchor="ctr"/>
          <a:lstStyle/>
          <a:p>
            <a:r>
              <a:rPr lang="en-US" sz="1600" b="1" dirty="0">
                <a:solidFill>
                  <a:srgbClr val="000000"/>
                </a:solidFill>
                <a:latin typeface="Calibri" pitchFamily="34" charset="0"/>
                <a:ea typeface="Calibri" pitchFamily="34" charset="-122"/>
                <a:cs typeface="Calibri" pitchFamily="34" charset="-120"/>
              </a:rPr>
              <a:t>Results</a:t>
            </a:r>
            <a:endParaRPr lang="en-US" sz="1600" dirty="0"/>
          </a:p>
        </p:txBody>
      </p:sp>
      <p:sp>
        <p:nvSpPr>
          <p:cNvPr id="6" name="Shape 3">
            <a:extLst>
              <a:ext uri="{FF2B5EF4-FFF2-40B4-BE49-F238E27FC236}">
                <a16:creationId xmlns:a16="http://schemas.microsoft.com/office/drawing/2014/main" id="{30140838-66EA-8E2D-C6F4-B5F341FCFF67}"/>
              </a:ext>
            </a:extLst>
          </p:cNvPr>
          <p:cNvSpPr/>
          <p:nvPr/>
        </p:nvSpPr>
        <p:spPr>
          <a:xfrm>
            <a:off x="417547" y="1216225"/>
            <a:ext cx="5577840" cy="0"/>
          </a:xfrm>
          <a:prstGeom prst="line">
            <a:avLst/>
          </a:prstGeom>
          <a:noFill/>
          <a:ln w="12700">
            <a:solidFill>
              <a:srgbClr val="CFCFCF"/>
            </a:solidFill>
            <a:prstDash val="solid"/>
          </a:ln>
        </p:spPr>
      </p:sp>
      <p:sp>
        <p:nvSpPr>
          <p:cNvPr id="7" name="Text 4">
            <a:extLst>
              <a:ext uri="{FF2B5EF4-FFF2-40B4-BE49-F238E27FC236}">
                <a16:creationId xmlns:a16="http://schemas.microsoft.com/office/drawing/2014/main" id="{34C23C2B-DFDF-BC5D-5293-8F5F654B9B84}"/>
              </a:ext>
            </a:extLst>
          </p:cNvPr>
          <p:cNvSpPr/>
          <p:nvPr/>
        </p:nvSpPr>
        <p:spPr>
          <a:xfrm>
            <a:off x="417547" y="1316810"/>
            <a:ext cx="5577840" cy="5356626"/>
          </a:xfrm>
          <a:prstGeom prst="rect">
            <a:avLst/>
          </a:prstGeom>
          <a:noFill/>
          <a:ln/>
        </p:spPr>
        <p:txBody>
          <a:bodyPr wrap="square" lIns="25400" tIns="25400" rIns="25400" bIns="25400" rtlCol="0" anchor="t"/>
          <a:lstStyle/>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Custom Model Loaded: I loaded a specific DPO-trained model (dpo_ramsay_llama32_1b_final) that I fine-tuned to adopt a specific persona (Gordon Ramsay).</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Approach 1: I asked the model "What is an RNN?" without providing any external text. The model had to rely only on its internal weights (what it learned during training) to construct the answer.</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Approach 2</a:t>
            </a:r>
            <a:r>
              <a:rPr lang="el-GR" sz="1400" dirty="0">
                <a:solidFill>
                  <a:srgbClr val="222222"/>
                </a:solidFill>
                <a:ea typeface="Calibri" pitchFamily="34" charset="-122"/>
                <a:cs typeface="Calibri" pitchFamily="34" charset="-120"/>
              </a:rPr>
              <a:t> (</a:t>
            </a:r>
            <a:r>
              <a:rPr lang="en-US" sz="1400" dirty="0">
                <a:solidFill>
                  <a:srgbClr val="222222"/>
                </a:solidFill>
                <a:ea typeface="Calibri" pitchFamily="34" charset="-122"/>
                <a:cs typeface="Calibri" pitchFamily="34" charset="-120"/>
              </a:rPr>
              <a:t>RAG): I calculated the cosine similarity between the question and the document chunks to find the top 3 most relevant chunks. I concatenated these 3 text chunks and fed them into the prompt as CONTEXT. I explicitly instructed the model to answer using only that provided context. This forces the model to synthesize the specific information from the PDF while still applying its "Ramsay" style.</a:t>
            </a:r>
          </a:p>
          <a:p>
            <a:pPr marL="285750" indent="-285750">
              <a:buSzPct val="100000"/>
              <a:buFont typeface="Arial" panose="020B0604020202020204" pitchFamily="34" charset="0"/>
              <a:buChar char="•"/>
            </a:pPr>
            <a:r>
              <a:rPr lang="en-US" sz="1400" dirty="0">
                <a:solidFill>
                  <a:srgbClr val="222222"/>
                </a:solidFill>
                <a:ea typeface="Calibri" pitchFamily="34" charset="-122"/>
                <a:cs typeface="Calibri" pitchFamily="34" charset="-120"/>
              </a:rPr>
              <a:t>At the end I tested both approaches with the given question “What is an RNN”. Generally, the second approach is giving better results and most of the times straight to the point. </a:t>
            </a:r>
          </a:p>
        </p:txBody>
      </p:sp>
      <p:sp>
        <p:nvSpPr>
          <p:cNvPr id="8" name="Shape 8">
            <a:extLst>
              <a:ext uri="{FF2B5EF4-FFF2-40B4-BE49-F238E27FC236}">
                <a16:creationId xmlns:a16="http://schemas.microsoft.com/office/drawing/2014/main" id="{923400B0-C3B0-D841-6267-9F496B78BBFD}"/>
              </a:ext>
            </a:extLst>
          </p:cNvPr>
          <p:cNvSpPr/>
          <p:nvPr/>
        </p:nvSpPr>
        <p:spPr>
          <a:xfrm>
            <a:off x="6196614" y="847025"/>
            <a:ext cx="5690586" cy="5826411"/>
          </a:xfrm>
          <a:prstGeom prst="roundRect">
            <a:avLst/>
          </a:prstGeom>
          <a:solidFill>
            <a:srgbClr val="FFFFFF"/>
          </a:solidFill>
          <a:ln w="12700">
            <a:solidFill>
              <a:srgbClr val="D9D9D9"/>
            </a:solidFill>
            <a:prstDash val="solid"/>
          </a:ln>
        </p:spPr>
      </p:sp>
      <p:pic>
        <p:nvPicPr>
          <p:cNvPr id="11" name="Picture 10">
            <a:extLst>
              <a:ext uri="{FF2B5EF4-FFF2-40B4-BE49-F238E27FC236}">
                <a16:creationId xmlns:a16="http://schemas.microsoft.com/office/drawing/2014/main" id="{83331268-9C5E-840E-F7D2-EB69C99E7E93}"/>
              </a:ext>
            </a:extLst>
          </p:cNvPr>
          <p:cNvPicPr>
            <a:picLocks noChangeAspect="1"/>
          </p:cNvPicPr>
          <p:nvPr/>
        </p:nvPicPr>
        <p:blipFill>
          <a:blip r:embed="rId2"/>
          <a:stretch>
            <a:fillRect/>
          </a:stretch>
        </p:blipFill>
        <p:spPr>
          <a:xfrm>
            <a:off x="6585839" y="1520785"/>
            <a:ext cx="4904339" cy="2239445"/>
          </a:xfrm>
          <a:prstGeom prst="rect">
            <a:avLst/>
          </a:prstGeom>
        </p:spPr>
      </p:pic>
      <p:pic>
        <p:nvPicPr>
          <p:cNvPr id="13" name="Picture 12">
            <a:extLst>
              <a:ext uri="{FF2B5EF4-FFF2-40B4-BE49-F238E27FC236}">
                <a16:creationId xmlns:a16="http://schemas.microsoft.com/office/drawing/2014/main" id="{A6EC4904-3ACE-A202-EF83-BC926871F990}"/>
              </a:ext>
            </a:extLst>
          </p:cNvPr>
          <p:cNvPicPr>
            <a:picLocks noChangeAspect="1"/>
          </p:cNvPicPr>
          <p:nvPr/>
        </p:nvPicPr>
        <p:blipFill>
          <a:blip r:embed="rId3"/>
          <a:stretch>
            <a:fillRect/>
          </a:stretch>
        </p:blipFill>
        <p:spPr>
          <a:xfrm>
            <a:off x="6488760" y="4150890"/>
            <a:ext cx="5098496" cy="1390300"/>
          </a:xfrm>
          <a:prstGeom prst="rect">
            <a:avLst/>
          </a:prstGeom>
        </p:spPr>
      </p:pic>
    </p:spTree>
    <p:extLst>
      <p:ext uri="{BB962C8B-B14F-4D97-AF65-F5344CB8AC3E}">
        <p14:creationId xmlns:p14="http://schemas.microsoft.com/office/powerpoint/2010/main" val="29050701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0630BC-C176-BBE9-A5F3-68CE5F9B80A5}"/>
              </a:ext>
            </a:extLst>
          </p:cNvPr>
          <p:cNvSpPr txBox="1"/>
          <p:nvPr/>
        </p:nvSpPr>
        <p:spPr>
          <a:xfrm>
            <a:off x="3198896" y="3167390"/>
            <a:ext cx="3785436" cy="523220"/>
          </a:xfrm>
          <a:prstGeom prst="rect">
            <a:avLst/>
          </a:prstGeom>
          <a:noFill/>
        </p:spPr>
        <p:txBody>
          <a:bodyPr wrap="square">
            <a:spAutoFit/>
          </a:bodyPr>
          <a:lstStyle/>
          <a:p>
            <a:pPr marL="0" indent="0">
              <a:buNone/>
            </a:pPr>
            <a:r>
              <a:rPr lang="en-US" sz="2800" b="1" dirty="0">
                <a:solidFill>
                  <a:srgbClr val="000000"/>
                </a:solidFill>
                <a:latin typeface="Calibri" pitchFamily="34" charset="0"/>
                <a:ea typeface="Calibri" pitchFamily="34" charset="-122"/>
                <a:cs typeface="Calibri" pitchFamily="34" charset="-120"/>
              </a:rPr>
              <a:t>Thank you for your time</a:t>
            </a:r>
            <a:endParaRPr lang="en-US" sz="2800" dirty="0"/>
          </a:p>
        </p:txBody>
      </p:sp>
    </p:spTree>
    <p:extLst>
      <p:ext uri="{BB962C8B-B14F-4D97-AF65-F5344CB8AC3E}">
        <p14:creationId xmlns:p14="http://schemas.microsoft.com/office/powerpoint/2010/main" val="16794573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494</TotalTime>
  <Words>1850</Words>
  <Application>Microsoft Office PowerPoint</Application>
  <PresentationFormat>Widescreen</PresentationFormat>
  <Paragraphs>95</Paragraphs>
  <Slides>12</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MS Reference Sans Serif</vt:lpstr>
      <vt:lpstr>Office Theme</vt:lpstr>
      <vt:lpstr>Natural Language Processing with Deep Learning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Vasileios Ntelopoulos</cp:lastModifiedBy>
  <cp:revision>32</cp:revision>
  <dcterms:created xsi:type="dcterms:W3CDTF">2026-02-18T21:26:06Z</dcterms:created>
  <dcterms:modified xsi:type="dcterms:W3CDTF">2026-02-19T12:54:26Z</dcterms:modified>
</cp:coreProperties>
</file>